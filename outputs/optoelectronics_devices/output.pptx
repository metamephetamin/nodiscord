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A1278-6730-42B8-B6AD-F9472C9B768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2F1E8-A809-43F4-83B3-64475D951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Начать можно с общей идеи: оптоэлектроника соединяет электрические схемы и световые процессы. В обычной электронике носителем информации является электрический сигнал, а здесь часть пути проходит через свет. Это удобно, потому что свет можно быстро включать и выключать, направлять в нужную сторону и передавать без электрического контакта. На этом принципе работают индикаторы, оптроны, датчики и оптоволоконные линии связи.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093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Оптоэлектронные устройства удобно разделить на три группы. Первая группа излучает свет: светодиоды, лазерные диоды, инфракрасные передатчики. Вторая группа принимает свет и преобразует его в электрический сигнал: фотодиоды, фототранзисторы, матрицы камер. Третья группа использует свет как канал связи или развязки: оптроны, оптоволокно, оптические датчики и энкодеры. Общая ценность этих устройств в скорости, помехоустойчивости и возможности отделить одну электрическую цепь от другой.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51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Физическая основа большинства излучателей связана с p-n переходом. Когда электрон рекомбинирует с дыркой, часть энергии может выделиться в виде фотона. Энергия фотона зависит от материала полупроводника, поэтому разные материалы дают разные цвета и длины волн. Если часть энергии не превращается в свет, она уходит в тепло. Поэтому в реальных устройствах важны не только яркость и цвет, но и тепловой режим, рабочий ток и качество кристалла.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446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Светодиод - это полупроводниковый излучатель, который светится при прямом включении. Его нельзя рассматривать как обычную лампочку: ток через LED должен быть ограничен резистором, драйвером или специальной схемой. Светодиоды хороши высокой эффективностью, быстрым откликом, компактностью и большим ресурсом. Но при перегреве яркость падает, а деградация ускоряется, поэтому мощные LED всегда требуют продуманного теплоотвода.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102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Лазерный диод отличается от обычного светодиода тем, что использует вынужденное излучение и оптический резонатор. Пока ток ниже порогового, излучение слабое и широкое по спектру. После достижения порога свет многократно усиливается в резонаторе, луч становится узким и направленным. Именно поэтому лазерные диоды применяют в волоконной связи, LiDAR, принтерах, сканерах и оптических приводах. При этом для них особенно важны стабилизация тока, отвод тепла и безопасность для зрения.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6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Фотоприемники выполняют обратную функцию: они превращают падающий свет в электрический сигнал. Фотодиод обычно быстрее и лучше подходит для точного приема, но его сигнал может быть слабым и требует усилителя. Фототранзистор чувствительнее, потому что усиливает сигнал внутри структуры транзистора, но часто работает медленнее. Лавинный фотодиод позволяет принимать очень слабый свет, однако требует более сложного питания и имеет собственные шумы.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156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Оптрон нужен там, где сигнал нужно передать между цепями без прямого электрического соединения. Внутри корпуса обычно есть светодиод и фотоприемник: входная цепь зажигает светодиод, свет проходит через изоляционный промежуток, а выходной элемент реагирует на излучение. Так можно защитить микроконтроллер от высокого напряжения, разорвать земляные петли и снизить влияние помех. При выборе оптрона смотрят коэффициент передачи тока, напряжение изоляции и скорость переключения.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241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оптоволоконной линии передатчик превращает электрические биты в световые импульсы. Эти импульсы идут по стеклянному или пластиковому волокну благодаря полному внутреннему отражению. На другом конце фотоприемник снова превращает свет в электрический сигнал. Для коротких линий часто используют многомодовое волокно и длину волны 850 нм, а для дальних линий - одномодовое волокно и диапазоны 1310 или 1550 нм. Главные преимущества: высокая скорость, малые потери и устойчивость к электромагнитным помехам.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677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Качество оптической линии определяется не только мощностью источника света. Важны потери в волокне, разъемах, сварках и изгибах. Важна дисперсия: если импульс растягивается во времени, соседние биты начинают накладываться друг на друга. Важны шумы и чувствительность приемника. Поэтому при проектировании линии считают оптический бюджет: сколько мощности вышло из передатчика, сколько потерялось по пути и сколько остается на входе приемника.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71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этом слайде удобно сравнить устройства по роли в системе. Светодиод и лазерный диод создают излучение, но лазер дает более направленный и быстрый канал. Фотодиод принимает свет и подходит для быстрых схем приема. Оптрон передает не мощность, а управляющий сигнал через световой промежуток и обеспечивает развязку. Оптоволокно само по себе не создает и не принимает свет, но служит средой передачи, где световые импульсы переносят данные на большие расстояния.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329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Примеры применения показывают, что оптоэлектроника не ограничивается индикаторами. В связи она обеспечивает интернет-магистрали и дата-центры. В промышленности оптические датчики фиксируют положение, скорость и наличие объектов без контакта. В медицине свет помогает измерять параметры организма и проводить процедуры с высокой точностью. В энергетике и силовой электронике оптроны дают безопасную развязку между управляющей схемой и опасным напряжением.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802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финале важно подчеркнуть общую идею: оптоэлектроника ценна как способ преобразования и передачи информации. Одни устройства создают свет, другие принимают его, третьи используют свет для изоляции или дальней связи. Благодаря этому можно получить высокую скорость, устойчивость к помехам, электрическую безопасность и работу на больших расстояниях. Поэтому оптоэлектронные элементы встречаются и в бытовой технике, и в промышленности, и в современных сетях связи.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2F1E8-A809-43F4-83B3-64475D9516E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23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3B897-203D-4164-A0CE-4C020CF1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1E0A02-EE11-CB81-943D-616033BB4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81376F-5172-9BD2-3E2F-C3D908BE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56923B-0A44-10D7-E43A-0C7BF1A6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27483B-C2A9-C853-575A-1867CB50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0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F53C7-5E22-0D28-86A5-81BBF132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72A6DE-6935-9714-BAC6-6AD6445E5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20DF11-CDB3-5E19-3822-2DC713EA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6F1E23-E51D-5101-E45C-474B71A9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2F875F-C54C-9E99-EFA7-599D4972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11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1FAB9-FF09-F78D-8ADB-143882FF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988B3-B62A-F8EB-0E96-5EC2617A6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E872F-AFC4-3E97-801B-7DEBE054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5E45A-7D20-6064-7CD5-165B5A3D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013F5F-4E2E-C7F6-8B78-A2F29607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22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561D5-6633-131B-67C7-0DE05E74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C0A05-E7DC-BA47-F7ED-EF9BBA502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407B37-269C-C28E-8EF5-5F14870D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0B3746-B10B-18E7-DBCB-56C7B335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851194-AEC5-E8D3-39A9-F0A2F9EE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4EFD71-15CA-D3D1-AAF6-7D010EE9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38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CF3A-BF8F-EDEA-2AE2-51808F0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204A30-2617-2DB6-EB1C-DAA4E8E9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C75962-B622-F3AB-1CDC-6AC35539B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C0AF493-1A39-97E7-EC7D-D38ED9C10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4349BD-2751-48DA-8239-14FF4E4ED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8D4670-78AA-EFA7-D2B2-B546E4D8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46CAF9-22D9-6668-F40B-7BCEA7C8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0F4325-74D6-0664-381C-4B3023E9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8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25427-5323-95C5-8D7D-8A3654A1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E68143-F082-382B-E49E-B3C07DBE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C76880-F7AC-9F9E-AD90-A4A18F1B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1FE52B-7552-47CD-C04A-4BA7248E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27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89E7BF-1E53-14F5-F374-206520DA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754868A-4DFC-2580-CA99-7A3A1E6D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83593F-E48B-E725-10FC-36A9AF72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54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79BDB-530B-C584-492C-F1790127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D6F02-DF37-9988-95C2-705D6EED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C971F-D04F-1B29-8039-DF0BA3093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F61CA9-BD84-6FF6-22B1-6C65B607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5FAC54-09EE-F92E-02A5-B9769892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F3A1DD-136B-0020-A43A-32A4B77C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66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FDAF8-BD29-AABB-7FA8-E3A8C6AC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2F36AE-E9A1-C3BA-4A38-A0FBE0801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C285D9-3E00-7C1D-BD20-4CE2276F3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0CCE18-7216-2E25-7831-06F7B8CF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02EE06-2C7B-2F94-829D-3C0183C5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F518B7-C36F-0C2A-809A-574A623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7D52F-9F3D-9B2F-0C10-1DB8A247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951263-7866-80DC-2B48-6FBD515B8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CC185-420E-2771-CC65-741A6C8C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1797DE-2AA4-B870-E7FC-D92BF83D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9F84F-5693-FD7B-83FB-C631E8FB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83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ECAAE0-BAA2-9B23-8730-152E34F3F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9AF99B-EFC9-3F61-9F07-B80AC281F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F932E7-159B-E0A5-8702-FDAF34B9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BBC9E2-F38F-268A-7529-C9A8679F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2A627-3983-DCED-67AE-C6D11944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99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51CCB-2A97-81E3-FD96-335AA002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741C5D-1A32-23EF-FBDD-05A1715CF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0FFBC2-9065-E2A5-ED68-4CF8875FA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B9F61-F27A-4323-83C7-CD0FBC14818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92361E-726F-DA7A-640C-C7B8B18C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7184B-FEF1-97B0-513D-D0B31B588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6AFAE-FD6F-47EA-A2F4-E48A8F142F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04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41EE3C-3569-6915-A691-3EFD18AE9D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1D691B-A2F7-04D0-C022-6266EE9D0C8F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3F6273-00F4-9DF4-53B2-91822936605F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207865-A6A2-DA16-5244-F7FEE88AE1C5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C7E0EC8-3C1D-9F91-6535-D0BDFB12EDE8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6B5DB7-9428-B19D-1D0A-2CAB8092394A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DCFE9F5-B240-1296-8A04-102B514961C5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719D765-691B-2E9F-BE91-3F86084775DA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3EA236A-9134-9231-8839-21674320D5A1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F23167A-E488-D124-E3E2-B146B414412F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0CDB0F9-F9FA-5958-8D49-D6C98BD23ECB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6CD381-BBA5-CFC8-48EC-B19309ACCD37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Оптоэлектронные устройства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BA11F-6AA4-D6FC-69F7-85F05A8AEA4D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Оптроны, светодиоды, лазерные диоды и передача данных по оптоволокну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915F7-9B4A-5416-D4E6-AD7216F36415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C0202-9971-BA05-552E-CD0292616A42}"/>
              </a:ext>
            </a:extLst>
          </p:cNvPr>
          <p:cNvSpPr txBox="1"/>
          <p:nvPr/>
        </p:nvSpPr>
        <p:spPr>
          <a:xfrm>
            <a:off x="1092200" y="1955800"/>
            <a:ext cx="825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F3F7FF"/>
                </a:solidFill>
                <a:latin typeface="Aptos" panose="020B0004020202020204" pitchFamily="34" charset="0"/>
              </a:rPr>
              <a:t>Электрический сигнал ⇄ свет ⇄ электрический сигнал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3A627-7EAA-FBF0-ADBD-7E695F2133A8}"/>
              </a:ext>
            </a:extLst>
          </p:cNvPr>
          <p:cNvSpPr txBox="1"/>
          <p:nvPr/>
        </p:nvSpPr>
        <p:spPr>
          <a:xfrm>
            <a:off x="1117600" y="27051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A9B5CC"/>
                </a:solidFill>
                <a:latin typeface="Aptos" panose="020B0004020202020204" pitchFamily="34" charset="0"/>
              </a:rPr>
              <a:t>В оптоэлектронных системах электрический сигнал управляет источником света, свет переносит энергию или данные, а фотоприемник снова преобразует его в электрический сигнал.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1F5ADFC-5BFF-702A-6402-3B857EBD0A8E}"/>
              </a:ext>
            </a:extLst>
          </p:cNvPr>
          <p:cNvSpPr/>
          <p:nvPr/>
        </p:nvSpPr>
        <p:spPr>
          <a:xfrm>
            <a:off x="1117600" y="4064000"/>
            <a:ext cx="1460500" cy="317500"/>
          </a:xfrm>
          <a:prstGeom prst="roundRect">
            <a:avLst/>
          </a:prstGeom>
          <a:solidFill>
            <a:srgbClr val="1FDCE8">
              <a:alpha val="88000"/>
            </a:srgbClr>
          </a:solidFill>
          <a:ln w="1270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A20FAA-E721-7834-028E-25F99810BA95}"/>
              </a:ext>
            </a:extLst>
          </p:cNvPr>
          <p:cNvSpPr txBox="1"/>
          <p:nvPr/>
        </p:nvSpPr>
        <p:spPr>
          <a:xfrm>
            <a:off x="1231900" y="4127500"/>
            <a:ext cx="1231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светодиоды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8AE8220-1326-0CE9-8F71-863F583A0148}"/>
              </a:ext>
            </a:extLst>
          </p:cNvPr>
          <p:cNvSpPr/>
          <p:nvPr/>
        </p:nvSpPr>
        <p:spPr>
          <a:xfrm>
            <a:off x="2794000" y="4064000"/>
            <a:ext cx="1092200" cy="317500"/>
          </a:xfrm>
          <a:prstGeom prst="roundRect">
            <a:avLst/>
          </a:prstGeom>
          <a:solidFill>
            <a:srgbClr val="8A5CFF">
              <a:alpha val="88000"/>
            </a:srgbClr>
          </a:solidFill>
          <a:ln w="12700" cap="flat" cmpd="sng" algn="ctr">
            <a:solidFill>
              <a:srgbClr val="8A5CFF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7D16B7-08D4-4703-323D-C4ABE16C220E}"/>
              </a:ext>
            </a:extLst>
          </p:cNvPr>
          <p:cNvSpPr txBox="1"/>
          <p:nvPr/>
        </p:nvSpPr>
        <p:spPr>
          <a:xfrm>
            <a:off x="2908300" y="4127500"/>
            <a:ext cx="86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лазеры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421C5B5-3649-D93C-742B-5A9F49C93DA7}"/>
              </a:ext>
            </a:extLst>
          </p:cNvPr>
          <p:cNvSpPr/>
          <p:nvPr/>
        </p:nvSpPr>
        <p:spPr>
          <a:xfrm>
            <a:off x="4102100" y="4064000"/>
            <a:ext cx="1193800" cy="317500"/>
          </a:xfrm>
          <a:prstGeom prst="roundRect">
            <a:avLst/>
          </a:prstGeom>
          <a:solidFill>
            <a:srgbClr val="FFBE45">
              <a:alpha val="88000"/>
            </a:srgbClr>
          </a:solidFill>
          <a:ln w="12700" cap="flat" cmpd="sng" algn="ctr">
            <a:solidFill>
              <a:srgbClr val="FFBE45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2A1BD-D707-D8AA-1103-77600EEA8DA5}"/>
              </a:ext>
            </a:extLst>
          </p:cNvPr>
          <p:cNvSpPr txBox="1"/>
          <p:nvPr/>
        </p:nvSpPr>
        <p:spPr>
          <a:xfrm>
            <a:off x="4216400" y="4127500"/>
            <a:ext cx="965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оптроны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873C13F-1511-8F8A-6CA1-9B043393098D}"/>
              </a:ext>
            </a:extLst>
          </p:cNvPr>
          <p:cNvSpPr/>
          <p:nvPr/>
        </p:nvSpPr>
        <p:spPr>
          <a:xfrm>
            <a:off x="5511800" y="4064000"/>
            <a:ext cx="1651000" cy="3175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EA1A09-661B-30A8-74EC-17D4C82206AC}"/>
              </a:ext>
            </a:extLst>
          </p:cNvPr>
          <p:cNvSpPr txBox="1"/>
          <p:nvPr/>
        </p:nvSpPr>
        <p:spPr>
          <a:xfrm>
            <a:off x="5626100" y="4127500"/>
            <a:ext cx="1422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оптоволокно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8D72B633-BB6F-356A-1DAF-1C3523D4A8D9}"/>
              </a:ext>
            </a:extLst>
          </p:cNvPr>
          <p:cNvSpPr/>
          <p:nvPr/>
        </p:nvSpPr>
        <p:spPr>
          <a:xfrm>
            <a:off x="8445500" y="1524000"/>
            <a:ext cx="2286000" cy="18415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20320" cap="flat" cmpd="sng" algn="ctr">
            <a:solidFill>
              <a:srgbClr val="1FDCE8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A9B2C-B532-FF56-151F-A8BE83D04320}"/>
              </a:ext>
            </a:extLst>
          </p:cNvPr>
          <p:cNvSpPr txBox="1"/>
          <p:nvPr/>
        </p:nvSpPr>
        <p:spPr>
          <a:xfrm>
            <a:off x="9017000" y="2247900"/>
            <a:ext cx="114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400" b="1">
                <a:solidFill>
                  <a:srgbClr val="F3F7FF"/>
                </a:solidFill>
                <a:latin typeface="Aptos" panose="020B0004020202020204" pitchFamily="34" charset="0"/>
              </a:rPr>
              <a:t>драйвер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FC1756A2-4E6F-F1AF-4ED0-5551C2C64123}"/>
              </a:ext>
            </a:extLst>
          </p:cNvPr>
          <p:cNvSpPr/>
          <p:nvPr/>
        </p:nvSpPr>
        <p:spPr>
          <a:xfrm>
            <a:off x="8128000" y="4152900"/>
            <a:ext cx="2921000" cy="431800"/>
          </a:xfrm>
          <a:prstGeom prst="roundRect">
            <a:avLst/>
          </a:prstGeom>
          <a:solidFill>
            <a:srgbClr val="161C2A">
              <a:alpha val="90000"/>
            </a:srgbClr>
          </a:solidFill>
          <a:ln w="25400" cap="flat" cmpd="sng" algn="ctr">
            <a:solidFill>
              <a:srgbClr val="4BDC9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61DDDED3-6813-E14D-4B65-971CB64BAFB1}"/>
              </a:ext>
            </a:extLst>
          </p:cNvPr>
          <p:cNvCxnSpPr/>
          <p:nvPr/>
        </p:nvCxnSpPr>
        <p:spPr>
          <a:xfrm>
            <a:off x="9334500" y="3365500"/>
            <a:ext cx="0" cy="774700"/>
          </a:xfrm>
          <a:prstGeom prst="line">
            <a:avLst/>
          </a:prstGeom>
          <a:ln w="2794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91ABBDEE-A5B9-6BDE-2059-BE126EB65435}"/>
              </a:ext>
            </a:extLst>
          </p:cNvPr>
          <p:cNvSpPr/>
          <p:nvPr/>
        </p:nvSpPr>
        <p:spPr>
          <a:xfrm>
            <a:off x="83566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40611FBA-2EB4-B97A-3633-840BEDD2D23A}"/>
              </a:ext>
            </a:extLst>
          </p:cNvPr>
          <p:cNvSpPr/>
          <p:nvPr/>
        </p:nvSpPr>
        <p:spPr>
          <a:xfrm>
            <a:off x="86487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363A6DFD-C6FD-C43D-28F5-23979C52DBC4}"/>
              </a:ext>
            </a:extLst>
          </p:cNvPr>
          <p:cNvSpPr/>
          <p:nvPr/>
        </p:nvSpPr>
        <p:spPr>
          <a:xfrm>
            <a:off x="89408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9A63554-669A-3BF8-53CC-CA8C289C0FC8}"/>
              </a:ext>
            </a:extLst>
          </p:cNvPr>
          <p:cNvSpPr/>
          <p:nvPr/>
        </p:nvSpPr>
        <p:spPr>
          <a:xfrm>
            <a:off x="92329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8194B6F-F6B0-B674-4C09-2DC6637CF3A1}"/>
              </a:ext>
            </a:extLst>
          </p:cNvPr>
          <p:cNvSpPr/>
          <p:nvPr/>
        </p:nvSpPr>
        <p:spPr>
          <a:xfrm>
            <a:off x="95250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0752548D-B4E2-3AA4-2020-23C2D63A5F35}"/>
              </a:ext>
            </a:extLst>
          </p:cNvPr>
          <p:cNvSpPr/>
          <p:nvPr/>
        </p:nvSpPr>
        <p:spPr>
          <a:xfrm>
            <a:off x="98171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23F9ED27-2C89-59F7-11C8-1A5F8E47C01C}"/>
              </a:ext>
            </a:extLst>
          </p:cNvPr>
          <p:cNvSpPr/>
          <p:nvPr/>
        </p:nvSpPr>
        <p:spPr>
          <a:xfrm>
            <a:off x="101092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1BC4518A-0064-05D7-BA38-68FB55BE8DCC}"/>
              </a:ext>
            </a:extLst>
          </p:cNvPr>
          <p:cNvSpPr/>
          <p:nvPr/>
        </p:nvSpPr>
        <p:spPr>
          <a:xfrm>
            <a:off x="104013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612F99F7-06D1-6A9E-8BC6-87717E3A4EE6}"/>
              </a:ext>
            </a:extLst>
          </p:cNvPr>
          <p:cNvSpPr/>
          <p:nvPr/>
        </p:nvSpPr>
        <p:spPr>
          <a:xfrm>
            <a:off x="10693400" y="4292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16853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65D8DD5-E556-98A1-9464-0BC156049A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8CCAB5-F2E8-5539-C8F1-947AF9CC3CC3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9B9C85-C547-41FB-6C20-A2AACF889F2D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0B1A27F-1E7C-A8EC-43C4-E24D42B0EF86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04A964D-90F6-D7E3-BBB9-B98F49DE4B36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CA99D1-3A15-EF48-0F45-6E569AAD0CB8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ED00C6-D603-4565-34D1-CD5A97B69BBF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712C81E-43E1-27A2-221B-6968E04F2D07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6FC30BB-0CAB-2DA6-7F4F-47CEA35C36C0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189795A-E8E6-1DF7-5E85-929BDE08CAE3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19A6DDB-07BC-8CAA-6331-950C7C6F3C81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46C807-3DD7-4A9A-724B-601A078E8A32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Что такое оптоэлектроника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0E692-BFC8-BB8A-6824-6A3E9539917A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Область на стыке электроники, фотоники и материаловедения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C342B-DE3C-4223-E2D9-96DA79A97FDE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2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FAA0932-D598-15CF-C563-6E1F5DEA36FB}"/>
              </a:ext>
            </a:extLst>
          </p:cNvPr>
          <p:cNvSpPr/>
          <p:nvPr/>
        </p:nvSpPr>
        <p:spPr>
          <a:xfrm>
            <a:off x="7874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083EA5C-D3D5-C7C2-A6D8-C4C7FF87D1F8}"/>
              </a:ext>
            </a:extLst>
          </p:cNvPr>
          <p:cNvSpPr/>
          <p:nvPr/>
        </p:nvSpPr>
        <p:spPr>
          <a:xfrm>
            <a:off x="965200" y="2044700"/>
            <a:ext cx="76200" cy="12192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B47EFB-F491-3561-DEC3-1C5AF4BED80D}"/>
              </a:ext>
            </a:extLst>
          </p:cNvPr>
          <p:cNvSpPr txBox="1"/>
          <p:nvPr/>
        </p:nvSpPr>
        <p:spPr>
          <a:xfrm>
            <a:off x="11684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Излучатели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3895C5-9B3D-E8B3-C935-CAEE8C0C3548}"/>
              </a:ext>
            </a:extLst>
          </p:cNvPr>
          <p:cNvSpPr txBox="1"/>
          <p:nvPr/>
        </p:nvSpPr>
        <p:spPr>
          <a:xfrm>
            <a:off x="1168400" y="2425700"/>
            <a:ext cx="2641600" cy="8156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Эти устройства превращают электрическую энергию в излучение. К ним относятся индикаторные LED, мощные светодиоды, ИК-передатчики и лазерные диоды.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AA3A02D-8C00-7989-08AE-4F51AA729DF4}"/>
              </a:ext>
            </a:extLst>
          </p:cNvPr>
          <p:cNvSpPr/>
          <p:nvPr/>
        </p:nvSpPr>
        <p:spPr>
          <a:xfrm>
            <a:off x="44958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2DD787F-D9D3-ADF4-8068-207810BE48BA}"/>
              </a:ext>
            </a:extLst>
          </p:cNvPr>
          <p:cNvSpPr/>
          <p:nvPr/>
        </p:nvSpPr>
        <p:spPr>
          <a:xfrm>
            <a:off x="4673600" y="2044700"/>
            <a:ext cx="76200" cy="12192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F0E11-71E5-7D4E-3E00-7F0981B17904}"/>
              </a:ext>
            </a:extLst>
          </p:cNvPr>
          <p:cNvSpPr txBox="1"/>
          <p:nvPr/>
        </p:nvSpPr>
        <p:spPr>
          <a:xfrm>
            <a:off x="48768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Приемники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2069A-CDE8-F873-2173-991468319D96}"/>
              </a:ext>
            </a:extLst>
          </p:cNvPr>
          <p:cNvSpPr txBox="1"/>
          <p:nvPr/>
        </p:nvSpPr>
        <p:spPr>
          <a:xfrm>
            <a:off x="4876800" y="2425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Фотоприемники выполняют обратную задачу: свет создает электрический ток или напряжение, которое затем усиливается и обрабатывается схемой.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425A709-1EE4-AFCF-6D8C-17536FB0314F}"/>
              </a:ext>
            </a:extLst>
          </p:cNvPr>
          <p:cNvSpPr/>
          <p:nvPr/>
        </p:nvSpPr>
        <p:spPr>
          <a:xfrm>
            <a:off x="8204200" y="1854200"/>
            <a:ext cx="3175000" cy="1600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835A249-8182-19F1-5E13-15F4F6C70760}"/>
              </a:ext>
            </a:extLst>
          </p:cNvPr>
          <p:cNvSpPr/>
          <p:nvPr/>
        </p:nvSpPr>
        <p:spPr>
          <a:xfrm>
            <a:off x="8382000" y="2044700"/>
            <a:ext cx="76200" cy="12192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C4FE29-6B6B-187B-B793-BF6B768D0973}"/>
              </a:ext>
            </a:extLst>
          </p:cNvPr>
          <p:cNvSpPr txBox="1"/>
          <p:nvPr/>
        </p:nvSpPr>
        <p:spPr>
          <a:xfrm>
            <a:off x="8585200" y="2032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Связь и развязка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6C434-0518-EAFA-B57A-DFF62FE66E32}"/>
              </a:ext>
            </a:extLst>
          </p:cNvPr>
          <p:cNvSpPr txBox="1"/>
          <p:nvPr/>
        </p:nvSpPr>
        <p:spPr>
          <a:xfrm>
            <a:off x="8585200" y="2425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Когда сигнал передается светом, цепи можно электрически разделить или вынести линию связи далеко от источника помех.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47739D-AF22-B35B-184B-A56D35BBF5C6}"/>
              </a:ext>
            </a:extLst>
          </p:cNvPr>
          <p:cNvSpPr txBox="1"/>
          <p:nvPr/>
        </p:nvSpPr>
        <p:spPr>
          <a:xfrm>
            <a:off x="1168400" y="4241800"/>
            <a:ext cx="965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900" b="1">
                <a:solidFill>
                  <a:srgbClr val="F3F7FF"/>
                </a:solidFill>
                <a:latin typeface="Aptos" panose="020B0004020202020204" pitchFamily="34" charset="0"/>
              </a:rPr>
              <a:t>Главное преимущество света: сигнал можно передавать быстро, устойчиво к помехам и без прямого электрического контакта между узлами.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6D3F669-5073-00DE-0C47-6649B242EE44}"/>
              </a:ext>
            </a:extLst>
          </p:cNvPr>
          <p:cNvSpPr/>
          <p:nvPr/>
        </p:nvSpPr>
        <p:spPr>
          <a:xfrm>
            <a:off x="1981200" y="5486400"/>
            <a:ext cx="1714500" cy="317500"/>
          </a:xfrm>
          <a:prstGeom prst="roundRect">
            <a:avLst/>
          </a:prstGeom>
          <a:solidFill>
            <a:srgbClr val="8A5CFF">
              <a:alpha val="88000"/>
            </a:srgbClr>
          </a:solidFill>
          <a:ln w="12700" cap="flat" cmpd="sng" algn="ctr">
            <a:solidFill>
              <a:srgbClr val="8A5CFF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29FBB-48A5-39ED-4676-A28ED85C9829}"/>
              </a:ext>
            </a:extLst>
          </p:cNvPr>
          <p:cNvSpPr txBox="1"/>
          <p:nvPr/>
        </p:nvSpPr>
        <p:spPr>
          <a:xfrm>
            <a:off x="2095500" y="5549900"/>
            <a:ext cx="1485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энергия фотона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B665586-A2A2-668F-83BF-4C9F2A1051C2}"/>
              </a:ext>
            </a:extLst>
          </p:cNvPr>
          <p:cNvSpPr/>
          <p:nvPr/>
        </p:nvSpPr>
        <p:spPr>
          <a:xfrm>
            <a:off x="4000500" y="5486400"/>
            <a:ext cx="1841500" cy="317500"/>
          </a:xfrm>
          <a:prstGeom prst="roundRect">
            <a:avLst/>
          </a:prstGeom>
          <a:solidFill>
            <a:srgbClr val="1FDCE8">
              <a:alpha val="88000"/>
            </a:srgbClr>
          </a:solidFill>
          <a:ln w="1270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0B91CD-FC68-6410-70BB-046417F5E552}"/>
              </a:ext>
            </a:extLst>
          </p:cNvPr>
          <p:cNvSpPr txBox="1"/>
          <p:nvPr/>
        </p:nvSpPr>
        <p:spPr>
          <a:xfrm>
            <a:off x="4114800" y="5549900"/>
            <a:ext cx="1612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полупроводники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1CA7C68-DCAC-25EC-8AC6-3DECE885023A}"/>
              </a:ext>
            </a:extLst>
          </p:cNvPr>
          <p:cNvSpPr/>
          <p:nvPr/>
        </p:nvSpPr>
        <p:spPr>
          <a:xfrm>
            <a:off x="6146800" y="5486400"/>
            <a:ext cx="1320800" cy="317500"/>
          </a:xfrm>
          <a:prstGeom prst="roundRect">
            <a:avLst/>
          </a:prstGeom>
          <a:solidFill>
            <a:srgbClr val="FFBE45">
              <a:alpha val="88000"/>
            </a:srgbClr>
          </a:solidFill>
          <a:ln w="12700" cap="flat" cmpd="sng" algn="ctr">
            <a:solidFill>
              <a:srgbClr val="FFBE45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3C4ED7-2103-B245-96E3-B528AB7CE6FA}"/>
              </a:ext>
            </a:extLst>
          </p:cNvPr>
          <p:cNvSpPr txBox="1"/>
          <p:nvPr/>
        </p:nvSpPr>
        <p:spPr>
          <a:xfrm>
            <a:off x="6261100" y="5549900"/>
            <a:ext cx="1092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изоляция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DA73BF2C-7751-AB5A-123F-64F0BFA808E2}"/>
              </a:ext>
            </a:extLst>
          </p:cNvPr>
          <p:cNvSpPr/>
          <p:nvPr/>
        </p:nvSpPr>
        <p:spPr>
          <a:xfrm>
            <a:off x="7772400" y="5486400"/>
            <a:ext cx="1244600" cy="3175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560533-FD20-94A7-7477-11119E4C4E67}"/>
              </a:ext>
            </a:extLst>
          </p:cNvPr>
          <p:cNvSpPr txBox="1"/>
          <p:nvPr/>
        </p:nvSpPr>
        <p:spPr>
          <a:xfrm>
            <a:off x="7886700" y="5549900"/>
            <a:ext cx="101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F3F7FF"/>
                </a:solidFill>
                <a:latin typeface="Aptos" panose="020B0004020202020204" pitchFamily="34" charset="0"/>
              </a:rPr>
              <a:t>скорость</a:t>
            </a:r>
          </a:p>
        </p:txBody>
      </p:sp>
    </p:spTree>
    <p:extLst>
      <p:ext uri="{BB962C8B-B14F-4D97-AF65-F5344CB8AC3E}">
        <p14:creationId xmlns:p14="http://schemas.microsoft.com/office/powerpoint/2010/main" val="71788698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5888A4-2814-E6B4-305E-0F29FF04A0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A42ED6-0722-89B8-6DF8-6D7304D9230B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87BB75-6F7C-CC50-22C8-E1845299CE9C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4B3BC9-D35B-5CC2-C16E-9DBC8C0228E2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7ECFA26-41CB-81B0-D145-F7E495AAC4C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02B16DF-736D-442A-2006-269DCB880BED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70333D1-1CCE-4755-0A5E-5D5D7D60F430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A259D36-8673-6421-D498-5F78A51F298C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2ACD420-9ED4-420E-D09E-9552A0763414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96E9BD3-B6C4-73F6-36FB-40F9C2DED4DC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92A8DA5-973E-6B90-2B36-37CA6F44B381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029FF3-C50B-1F1A-4059-003A09829476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Физическая основа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1B3AC-9C4D-D68A-7ABF-49BDFA86D2C7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При рекомбинации электрона и дырки энергия может выйти в виде фотона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CBEEB-424D-03E6-3948-E481093AC09B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3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C7D426D-2E15-3C12-B5B7-AAAF8F3F8C38}"/>
              </a:ext>
            </a:extLst>
          </p:cNvPr>
          <p:cNvSpPr/>
          <p:nvPr/>
        </p:nvSpPr>
        <p:spPr>
          <a:xfrm>
            <a:off x="1193800" y="2159000"/>
            <a:ext cx="4826000" cy="20320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5240" cap="flat" cmpd="sng" algn="ctr">
            <a:solidFill>
              <a:srgbClr val="4E5B7B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857225-0FCB-D43C-6A8E-865B42CB6725}"/>
              </a:ext>
            </a:extLst>
          </p:cNvPr>
          <p:cNvSpPr/>
          <p:nvPr/>
        </p:nvSpPr>
        <p:spPr>
          <a:xfrm>
            <a:off x="1498600" y="2603500"/>
            <a:ext cx="1841500" cy="1143000"/>
          </a:xfrm>
          <a:prstGeom prst="rect">
            <a:avLst/>
          </a:prstGeom>
          <a:solidFill>
            <a:srgbClr val="8A5CFF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3E0781-B547-0198-D0CF-2BB3CD184AB2}"/>
              </a:ext>
            </a:extLst>
          </p:cNvPr>
          <p:cNvSpPr/>
          <p:nvPr/>
        </p:nvSpPr>
        <p:spPr>
          <a:xfrm>
            <a:off x="3835400" y="2603500"/>
            <a:ext cx="1841500" cy="1143000"/>
          </a:xfrm>
          <a:prstGeom prst="rect">
            <a:avLst/>
          </a:prstGeom>
          <a:solidFill>
            <a:srgbClr val="1FDCE8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37194-AFE1-0979-7B68-0D8003882E1D}"/>
              </a:ext>
            </a:extLst>
          </p:cNvPr>
          <p:cNvSpPr txBox="1"/>
          <p:nvPr/>
        </p:nvSpPr>
        <p:spPr>
          <a:xfrm>
            <a:off x="1816100" y="30226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F3F7FF"/>
                </a:solidFill>
                <a:latin typeface="Aptos" panose="020B0004020202020204" pitchFamily="34" charset="0"/>
              </a:rPr>
              <a:t>p-</a:t>
            </a:r>
            <a:r>
              <a:rPr lang="ru-RU" sz="1300" b="1">
                <a:solidFill>
                  <a:srgbClr val="F3F7FF"/>
                </a:solidFill>
                <a:latin typeface="Aptos" panose="020B0004020202020204" pitchFamily="34" charset="0"/>
              </a:rPr>
              <a:t>область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61345-39E9-BB4F-99EB-CBB8000FB237}"/>
              </a:ext>
            </a:extLst>
          </p:cNvPr>
          <p:cNvSpPr txBox="1"/>
          <p:nvPr/>
        </p:nvSpPr>
        <p:spPr>
          <a:xfrm>
            <a:off x="4178300" y="30226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F3F7FF"/>
                </a:solidFill>
                <a:latin typeface="Aptos" panose="020B0004020202020204" pitchFamily="34" charset="0"/>
              </a:rPr>
              <a:t>n-</a:t>
            </a:r>
            <a:r>
              <a:rPr lang="ru-RU" sz="1300" b="1">
                <a:solidFill>
                  <a:srgbClr val="F3F7FF"/>
                </a:solidFill>
                <a:latin typeface="Aptos" panose="020B0004020202020204" pitchFamily="34" charset="0"/>
              </a:rPr>
              <a:t>область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769B2619-A6EB-C22D-6845-76CD49408BC6}"/>
              </a:ext>
            </a:extLst>
          </p:cNvPr>
          <p:cNvCxnSpPr/>
          <p:nvPr/>
        </p:nvCxnSpPr>
        <p:spPr>
          <a:xfrm>
            <a:off x="3365500" y="3175000"/>
            <a:ext cx="4826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3FF6756A-9BFE-3B55-CA92-3AF9F57050D6}"/>
              </a:ext>
            </a:extLst>
          </p:cNvPr>
          <p:cNvSpPr/>
          <p:nvPr/>
        </p:nvSpPr>
        <p:spPr>
          <a:xfrm>
            <a:off x="3492500" y="2768600"/>
            <a:ext cx="165100" cy="1651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78FD46-8CD1-14C6-F045-F198BF65C5A3}"/>
              </a:ext>
            </a:extLst>
          </p:cNvPr>
          <p:cNvSpPr txBox="1"/>
          <p:nvPr/>
        </p:nvSpPr>
        <p:spPr>
          <a:xfrm>
            <a:off x="2362200" y="408940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BE45"/>
                </a:solidFill>
                <a:latin typeface="Aptos" panose="020B0004020202020204" pitchFamily="34" charset="0"/>
              </a:rPr>
              <a:t>e⁻ + </a:t>
            </a:r>
            <a:r>
              <a:rPr lang="ru-RU" sz="1500" b="1">
                <a:solidFill>
                  <a:srgbClr val="FFBE45"/>
                </a:solidFill>
                <a:latin typeface="Aptos" panose="020B0004020202020204" pitchFamily="34" charset="0"/>
              </a:rPr>
              <a:t>дырка → фотон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63855BE-0ABA-A90A-CBB5-DF8180536ABE}"/>
              </a:ext>
            </a:extLst>
          </p:cNvPr>
          <p:cNvSpPr/>
          <p:nvPr/>
        </p:nvSpPr>
        <p:spPr>
          <a:xfrm>
            <a:off x="6921500" y="1905000"/>
            <a:ext cx="4254500" cy="14732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57519C1-2DF0-1A79-F0C8-04885A2D38BC}"/>
              </a:ext>
            </a:extLst>
          </p:cNvPr>
          <p:cNvSpPr/>
          <p:nvPr/>
        </p:nvSpPr>
        <p:spPr>
          <a:xfrm>
            <a:off x="7099300" y="2095500"/>
            <a:ext cx="76200" cy="10922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95DEC7-2CE6-3E9A-9DCB-C29C7F3D099F}"/>
              </a:ext>
            </a:extLst>
          </p:cNvPr>
          <p:cNvSpPr txBox="1"/>
          <p:nvPr/>
        </p:nvSpPr>
        <p:spPr>
          <a:xfrm>
            <a:off x="7302500" y="20828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Цвет задается материалом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ED467-9583-396C-D8E4-6A8D580413D0}"/>
              </a:ext>
            </a:extLst>
          </p:cNvPr>
          <p:cNvSpPr txBox="1"/>
          <p:nvPr/>
        </p:nvSpPr>
        <p:spPr>
          <a:xfrm>
            <a:off x="7302500" y="2476500"/>
            <a:ext cx="37211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Энергия фотона зависит от ширины запрещенной зоны полупроводника. Чем больше Eg, тем короче длина волны и тем ближе излучение к синей области спектра.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3C417E0B-6A15-70FC-E5EF-5A496441AF5A}"/>
              </a:ext>
            </a:extLst>
          </p:cNvPr>
          <p:cNvSpPr/>
          <p:nvPr/>
        </p:nvSpPr>
        <p:spPr>
          <a:xfrm>
            <a:off x="6921500" y="3733800"/>
            <a:ext cx="4254500" cy="1422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D613AE7-BA33-A266-9475-433BDC3030FE}"/>
              </a:ext>
            </a:extLst>
          </p:cNvPr>
          <p:cNvSpPr/>
          <p:nvPr/>
        </p:nvSpPr>
        <p:spPr>
          <a:xfrm>
            <a:off x="7099300" y="3924300"/>
            <a:ext cx="76200" cy="10414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DDD6E2-0795-7B88-2DB4-F2D1F3ADBACF}"/>
              </a:ext>
            </a:extLst>
          </p:cNvPr>
          <p:cNvSpPr txBox="1"/>
          <p:nvPr/>
        </p:nvSpPr>
        <p:spPr>
          <a:xfrm>
            <a:off x="7302500" y="39116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Часть энергии уходит в тепло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6C0E6F-A780-ED2D-B4C5-0E89DFEE1E0E}"/>
              </a:ext>
            </a:extLst>
          </p:cNvPr>
          <p:cNvSpPr txBox="1"/>
          <p:nvPr/>
        </p:nvSpPr>
        <p:spPr>
          <a:xfrm>
            <a:off x="7302500" y="4305300"/>
            <a:ext cx="37211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Рекомбинация не всегда приводит к излучению. Потери нагревают кристалл, поэтому для надежной работы важны токовый режим, КПД и теплоотвод.</a:t>
            </a:r>
          </a:p>
        </p:txBody>
      </p:sp>
    </p:spTree>
    <p:extLst>
      <p:ext uri="{BB962C8B-B14F-4D97-AF65-F5344CB8AC3E}">
        <p14:creationId xmlns:p14="http://schemas.microsoft.com/office/powerpoint/2010/main" val="50607893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7B9D45-9EA6-C2D3-0BE7-B9E1370E4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B672F4-690C-57BE-CE36-BEDCA8196EF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E8B50B-52BA-5FA2-E1BF-EFB906E73D56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C57265-FF06-B078-651F-1E5C88FA3C7E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39D0741-5A7C-376C-6E8B-4E09F70EDCC9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FAAE638-2541-041F-C1CF-E55A60A56A89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325C244-F5BA-C79E-65FC-E4720F7E2DB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1842DDC-F478-8519-8C42-8BF814F0987E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5F7CE69-5E64-50EA-95A2-6F7EAFE8AEFD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38E87F8-5F95-A857-8713-8763A5457268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72E87E4-0F03-4F08-B613-D6025EAF0E26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D430ED-7A04-5BC8-E59C-1E20B8524FAC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Светодиоды (</a:t>
            </a:r>
            <a:r>
              <a:rPr lang="en-US" sz="3000" b="1">
                <a:solidFill>
                  <a:srgbClr val="F3F7FF"/>
                </a:solidFill>
                <a:latin typeface="Aptos" panose="020B0004020202020204" pitchFamily="34" charset="0"/>
              </a:rPr>
              <a:t>LED)</a:t>
            </a:r>
            <a:endParaRPr lang="ru-RU" sz="3000" b="1">
              <a:solidFill>
                <a:srgbClr val="F3F7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1C3B8-10F6-347A-C3FA-7F0ABE9903A6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Простые и эффективные излучатели на p-n переходе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75EEE-F8EA-0003-308D-CD1055D90CC1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4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233FD77-5307-70D3-E438-D89B0240F159}"/>
              </a:ext>
            </a:extLst>
          </p:cNvPr>
          <p:cNvSpPr/>
          <p:nvPr/>
        </p:nvSpPr>
        <p:spPr>
          <a:xfrm>
            <a:off x="1168400" y="2184400"/>
            <a:ext cx="2603500" cy="1968500"/>
          </a:xfrm>
          <a:prstGeom prst="roundRect">
            <a:avLst/>
          </a:prstGeom>
          <a:solidFill>
            <a:srgbClr val="1D2436">
              <a:alpha val="95000"/>
            </a:srgbClr>
          </a:solidFill>
          <a:ln w="17780" cap="flat" cmpd="sng" algn="ctr">
            <a:solidFill>
              <a:srgbClr val="1FDCE8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DFB0099-5E57-B69D-0127-66B525628278}"/>
              </a:ext>
            </a:extLst>
          </p:cNvPr>
          <p:cNvSpPr/>
          <p:nvPr/>
        </p:nvSpPr>
        <p:spPr>
          <a:xfrm>
            <a:off x="1727200" y="1498600"/>
            <a:ext cx="1498600" cy="1498600"/>
          </a:xfrm>
          <a:prstGeom prst="ellipse">
            <a:avLst/>
          </a:prstGeom>
          <a:solidFill>
            <a:srgbClr val="1FDCE8">
              <a:alpha val="64000"/>
            </a:srgbClr>
          </a:solidFill>
          <a:ln w="17780" cap="flat" cmpd="sng" algn="ctr">
            <a:solidFill>
              <a:srgbClr val="1FDCE8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glow rad="254000">
              <a:srgbClr val="1FDCE8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99A67-14DC-3355-8E15-0A00A92E5FAE}"/>
              </a:ext>
            </a:extLst>
          </p:cNvPr>
          <p:cNvSpPr txBox="1"/>
          <p:nvPr/>
        </p:nvSpPr>
        <p:spPr>
          <a:xfrm>
            <a:off x="2082800" y="31242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00" b="1">
                <a:solidFill>
                  <a:srgbClr val="F3F7FF"/>
                </a:solidFill>
                <a:latin typeface="Aptos" panose="020B0004020202020204" pitchFamily="34" charset="0"/>
              </a:rPr>
              <a:t>кристалл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37BB92D-2D18-EE06-377D-DCE32DED241A}"/>
              </a:ext>
            </a:extLst>
          </p:cNvPr>
          <p:cNvCxnSpPr/>
          <p:nvPr/>
        </p:nvCxnSpPr>
        <p:spPr>
          <a:xfrm flipV="1">
            <a:off x="3225800" y="1701800"/>
            <a:ext cx="1409700" cy="53340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63F61FE-733C-C746-F156-722931A94BFB}"/>
              </a:ext>
            </a:extLst>
          </p:cNvPr>
          <p:cNvCxnSpPr/>
          <p:nvPr/>
        </p:nvCxnSpPr>
        <p:spPr>
          <a:xfrm>
            <a:off x="3276600" y="2603500"/>
            <a:ext cx="1549400" cy="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F3383A2-8CD1-8330-29ED-61366BA22890}"/>
              </a:ext>
            </a:extLst>
          </p:cNvPr>
          <p:cNvCxnSpPr/>
          <p:nvPr/>
        </p:nvCxnSpPr>
        <p:spPr>
          <a:xfrm>
            <a:off x="3225800" y="2971800"/>
            <a:ext cx="1409700" cy="584200"/>
          </a:xfrm>
          <a:prstGeom prst="line">
            <a:avLst/>
          </a:prstGeom>
          <a:ln w="254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C8CC982-8D9F-E716-A02F-99A730656953}"/>
              </a:ext>
            </a:extLst>
          </p:cNvPr>
          <p:cNvSpPr/>
          <p:nvPr/>
        </p:nvSpPr>
        <p:spPr>
          <a:xfrm>
            <a:off x="5461000" y="1676400"/>
            <a:ext cx="2794000" cy="1701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36AEA0D-E77A-5FF2-9688-8B7A7D1748B9}"/>
              </a:ext>
            </a:extLst>
          </p:cNvPr>
          <p:cNvSpPr/>
          <p:nvPr/>
        </p:nvSpPr>
        <p:spPr>
          <a:xfrm>
            <a:off x="5638800" y="1866900"/>
            <a:ext cx="76200" cy="13208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D24120-EC49-7DA1-1474-95E8277C956F}"/>
              </a:ext>
            </a:extLst>
          </p:cNvPr>
          <p:cNvSpPr txBox="1"/>
          <p:nvPr/>
        </p:nvSpPr>
        <p:spPr>
          <a:xfrm>
            <a:off x="5842000" y="18542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Основные параметры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46E78-297B-35A7-ADB9-D1618A564135}"/>
              </a:ext>
            </a:extLst>
          </p:cNvPr>
          <p:cNvSpPr txBox="1"/>
          <p:nvPr/>
        </p:nvSpPr>
        <p:spPr>
          <a:xfrm>
            <a:off x="5842000" y="2247900"/>
            <a:ext cx="2260600" cy="8156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При выборе LED учитывают прямое напряжение, допустимый ток, световой поток, угол излучения, цветовую температуру и тепловое сопротивление.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82EB5FF-0C7E-7F16-651B-CD3E4BAB0411}"/>
              </a:ext>
            </a:extLst>
          </p:cNvPr>
          <p:cNvSpPr/>
          <p:nvPr/>
        </p:nvSpPr>
        <p:spPr>
          <a:xfrm>
            <a:off x="8534400" y="1676400"/>
            <a:ext cx="2794000" cy="1701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27606A9-C676-7B94-39F9-1BB686450925}"/>
              </a:ext>
            </a:extLst>
          </p:cNvPr>
          <p:cNvSpPr/>
          <p:nvPr/>
        </p:nvSpPr>
        <p:spPr>
          <a:xfrm>
            <a:off x="8712200" y="1866900"/>
            <a:ext cx="76200" cy="1320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9AFD52-5091-DDD9-81F6-EFD600CDAF28}"/>
              </a:ext>
            </a:extLst>
          </p:cNvPr>
          <p:cNvSpPr txBox="1"/>
          <p:nvPr/>
        </p:nvSpPr>
        <p:spPr>
          <a:xfrm>
            <a:off x="8915400" y="18542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Преимущества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E9B146-2210-4A88-B5D6-201150F3889B}"/>
              </a:ext>
            </a:extLst>
          </p:cNvPr>
          <p:cNvSpPr txBox="1"/>
          <p:nvPr/>
        </p:nvSpPr>
        <p:spPr>
          <a:xfrm>
            <a:off x="8915400" y="2247900"/>
            <a:ext cx="2260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Светодиоды экономичны, быстро включаются, занимают мало места и служат долго, если не превышать ток и не перегревать кристалл.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0D2A402-9A41-E490-35DE-6928A970CD5B}"/>
              </a:ext>
            </a:extLst>
          </p:cNvPr>
          <p:cNvSpPr/>
          <p:nvPr/>
        </p:nvSpPr>
        <p:spPr>
          <a:xfrm>
            <a:off x="7010400" y="3860800"/>
            <a:ext cx="3302000" cy="1549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7D26749-6025-7946-FE19-E96D28203587}"/>
              </a:ext>
            </a:extLst>
          </p:cNvPr>
          <p:cNvSpPr/>
          <p:nvPr/>
        </p:nvSpPr>
        <p:spPr>
          <a:xfrm>
            <a:off x="7188200" y="4051300"/>
            <a:ext cx="76200" cy="1168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1330E0-D1B0-C364-344C-0DFDD5E0E9E8}"/>
              </a:ext>
            </a:extLst>
          </p:cNvPr>
          <p:cNvSpPr txBox="1"/>
          <p:nvPr/>
        </p:nvSpPr>
        <p:spPr>
          <a:xfrm>
            <a:off x="7391400" y="40386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7B6EB-92F0-A001-E60F-0A4ADE793E9F}"/>
              </a:ext>
            </a:extLst>
          </p:cNvPr>
          <p:cNvSpPr txBox="1"/>
          <p:nvPr/>
        </p:nvSpPr>
        <p:spPr>
          <a:xfrm>
            <a:off x="7391400" y="44323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LED нельзя подключать напрямую к источнику питания без ограничения тока. Перегрев снижает яркость и ускоряет деградацию.</a:t>
            </a:r>
          </a:p>
        </p:txBody>
      </p:sp>
    </p:spTree>
    <p:extLst>
      <p:ext uri="{BB962C8B-B14F-4D97-AF65-F5344CB8AC3E}">
        <p14:creationId xmlns:p14="http://schemas.microsoft.com/office/powerpoint/2010/main" val="291415389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8C9B78-4AE6-3C24-DDC2-5FEAD07F96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0B94B5-6C88-EF29-DA3A-1EDF79B0648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16CA80-F10B-CA5F-7668-D16AE8B74D69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EC5D2E-ED66-5615-57C4-2650E7392643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273B967-6244-1A32-8B40-078D3093672E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696F7D1-4E1E-BF46-3227-08FB4C61AFD4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1237364-1016-B47D-2FDA-F5827DE8005C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C4BF76D-48BE-F3C7-FEF6-B8BF8B2F3C59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920804A-1554-DD13-602E-2B5F075BABD8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091462-5B54-A9E0-5843-3B1151C92C1F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3708D95-3840-D351-6A34-5A6C20666A94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08F6FD-A55B-EE6B-153A-298FD4870CF9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Лазерные диоды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F12C0-9E0F-1A59-5C69-B523B4660177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Узкий управляемый луч за счет вынужденного излучения и резонатора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CA7F5-2D0A-C25C-312D-E189B08B5EA5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5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F83BE2B-2C8B-4640-76F3-EBFD2D43252B}"/>
              </a:ext>
            </a:extLst>
          </p:cNvPr>
          <p:cNvSpPr/>
          <p:nvPr/>
        </p:nvSpPr>
        <p:spPr>
          <a:xfrm>
            <a:off x="1168400" y="2540000"/>
            <a:ext cx="5334000" cy="11684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20320" cap="flat" cmpd="sng" algn="ctr">
            <a:solidFill>
              <a:srgbClr val="8A5CFF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5074E8-592A-A0C9-A9F7-0387CC1FC02B}"/>
              </a:ext>
            </a:extLst>
          </p:cNvPr>
          <p:cNvSpPr/>
          <p:nvPr/>
        </p:nvSpPr>
        <p:spPr>
          <a:xfrm>
            <a:off x="1333500" y="2413000"/>
            <a:ext cx="177800" cy="14224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F9758E-E978-F44E-A1BF-299DBF6183D2}"/>
              </a:ext>
            </a:extLst>
          </p:cNvPr>
          <p:cNvSpPr/>
          <p:nvPr/>
        </p:nvSpPr>
        <p:spPr>
          <a:xfrm>
            <a:off x="6172200" y="2413000"/>
            <a:ext cx="177800" cy="1422400"/>
          </a:xfrm>
          <a:prstGeom prst="rect">
            <a:avLst/>
          </a:prstGeom>
          <a:solidFill>
            <a:srgbClr val="FFFFF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1D65A9-0FFC-7E57-2324-29301C862D9A}"/>
              </a:ext>
            </a:extLst>
          </p:cNvPr>
          <p:cNvSpPr txBox="1"/>
          <p:nvPr/>
        </p:nvSpPr>
        <p:spPr>
          <a:xfrm>
            <a:off x="2781300" y="26670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400" b="1">
                <a:solidFill>
                  <a:srgbClr val="F3F7FF"/>
                </a:solidFill>
                <a:latin typeface="Aptos" panose="020B0004020202020204" pitchFamily="34" charset="0"/>
              </a:rPr>
              <a:t>активная область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6C701E6-66A7-1A00-6EC8-F788C964A6F4}"/>
              </a:ext>
            </a:extLst>
          </p:cNvPr>
          <p:cNvCxnSpPr/>
          <p:nvPr/>
        </p:nvCxnSpPr>
        <p:spPr>
          <a:xfrm>
            <a:off x="1841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ABAD8F8-1256-FF09-16E9-6C158245ACF4}"/>
              </a:ext>
            </a:extLst>
          </p:cNvPr>
          <p:cNvCxnSpPr/>
          <p:nvPr/>
        </p:nvCxnSpPr>
        <p:spPr>
          <a:xfrm>
            <a:off x="25400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51331F84-0CC7-A63C-39E4-C7AFF23ADBB2}"/>
              </a:ext>
            </a:extLst>
          </p:cNvPr>
          <p:cNvCxnSpPr/>
          <p:nvPr/>
        </p:nvCxnSpPr>
        <p:spPr>
          <a:xfrm>
            <a:off x="3238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6377C55-CB7A-07D6-988A-CCCE49F79633}"/>
              </a:ext>
            </a:extLst>
          </p:cNvPr>
          <p:cNvCxnSpPr/>
          <p:nvPr/>
        </p:nvCxnSpPr>
        <p:spPr>
          <a:xfrm>
            <a:off x="39370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0A6414D-44D8-62F4-8365-F981D9AB68AB}"/>
              </a:ext>
            </a:extLst>
          </p:cNvPr>
          <p:cNvCxnSpPr/>
          <p:nvPr/>
        </p:nvCxnSpPr>
        <p:spPr>
          <a:xfrm>
            <a:off x="4635500" y="3111500"/>
            <a:ext cx="508000" cy="0"/>
          </a:xfrm>
          <a:prstGeom prst="line">
            <a:avLst/>
          </a:prstGeom>
          <a:ln w="25400" cap="flat" cmpd="sng" algn="ctr">
            <a:solidFill>
              <a:srgbClr val="8A5CF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DF0473F-73F8-E70E-92F4-6220D9135387}"/>
              </a:ext>
            </a:extLst>
          </p:cNvPr>
          <p:cNvCxnSpPr/>
          <p:nvPr/>
        </p:nvCxnSpPr>
        <p:spPr>
          <a:xfrm>
            <a:off x="6350000" y="3111500"/>
            <a:ext cx="1625600" cy="0"/>
          </a:xfrm>
          <a:prstGeom prst="line">
            <a:avLst/>
          </a:prstGeom>
          <a:ln w="3810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id="{B99DB579-1D74-99DB-75E7-5E96885B2CDC}"/>
              </a:ext>
            </a:extLst>
          </p:cNvPr>
          <p:cNvSpPr/>
          <p:nvPr/>
        </p:nvSpPr>
        <p:spPr>
          <a:xfrm>
            <a:off x="68072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C179565-8243-7AF5-CB8E-255087218777}"/>
              </a:ext>
            </a:extLst>
          </p:cNvPr>
          <p:cNvSpPr/>
          <p:nvPr/>
        </p:nvSpPr>
        <p:spPr>
          <a:xfrm>
            <a:off x="70866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ECBBD2F8-DE83-2FDD-D4AE-686088A632DA}"/>
              </a:ext>
            </a:extLst>
          </p:cNvPr>
          <p:cNvSpPr/>
          <p:nvPr/>
        </p:nvSpPr>
        <p:spPr>
          <a:xfrm>
            <a:off x="73660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37008228-80DD-6955-F75A-11BE7FE0B02D}"/>
              </a:ext>
            </a:extLst>
          </p:cNvPr>
          <p:cNvSpPr/>
          <p:nvPr/>
        </p:nvSpPr>
        <p:spPr>
          <a:xfrm>
            <a:off x="76454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6B77E0B-12F6-DD98-AAF4-38179720DD2F}"/>
              </a:ext>
            </a:extLst>
          </p:cNvPr>
          <p:cNvSpPr/>
          <p:nvPr/>
        </p:nvSpPr>
        <p:spPr>
          <a:xfrm>
            <a:off x="7924800" y="3022600"/>
            <a:ext cx="114300" cy="1143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E889820-44EB-27BE-2A8B-9A883CF02F77}"/>
              </a:ext>
            </a:extLst>
          </p:cNvPr>
          <p:cNvSpPr/>
          <p:nvPr/>
        </p:nvSpPr>
        <p:spPr>
          <a:xfrm>
            <a:off x="8280400" y="1676400"/>
            <a:ext cx="2921000" cy="1676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C16C8351-6FD4-E04D-B4F6-691992F33309}"/>
              </a:ext>
            </a:extLst>
          </p:cNvPr>
          <p:cNvSpPr/>
          <p:nvPr/>
        </p:nvSpPr>
        <p:spPr>
          <a:xfrm>
            <a:off x="8458200" y="1866900"/>
            <a:ext cx="76200" cy="12954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498EA-7910-B735-601D-45A01136036C}"/>
              </a:ext>
            </a:extLst>
          </p:cNvPr>
          <p:cNvSpPr txBox="1"/>
          <p:nvPr/>
        </p:nvSpPr>
        <p:spPr>
          <a:xfrm>
            <a:off x="8661400" y="18542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Что отличает лазер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8612F3-9FDF-ABD6-75B9-84C8A1B4A115}"/>
              </a:ext>
            </a:extLst>
          </p:cNvPr>
          <p:cNvSpPr txBox="1"/>
          <p:nvPr/>
        </p:nvSpPr>
        <p:spPr>
          <a:xfrm>
            <a:off x="8661400" y="2247900"/>
            <a:ext cx="2387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Луч лазерного диода имеет малую расходимость и узкий спектр. Это удобно там, где нужен точный направленный поток света.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E2C0B01-9B31-BEF2-0344-79ED11F9F495}"/>
              </a:ext>
            </a:extLst>
          </p:cNvPr>
          <p:cNvSpPr/>
          <p:nvPr/>
        </p:nvSpPr>
        <p:spPr>
          <a:xfrm>
            <a:off x="8280400" y="3708400"/>
            <a:ext cx="2921000" cy="1676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D59711CD-5C3A-A2A4-7D3A-656856E2F2D7}"/>
              </a:ext>
            </a:extLst>
          </p:cNvPr>
          <p:cNvSpPr/>
          <p:nvPr/>
        </p:nvSpPr>
        <p:spPr>
          <a:xfrm>
            <a:off x="8458200" y="3898900"/>
            <a:ext cx="76200" cy="1295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05B48F-3650-FE43-C1FA-2C62154A0992}"/>
              </a:ext>
            </a:extLst>
          </p:cNvPr>
          <p:cNvSpPr txBox="1"/>
          <p:nvPr/>
        </p:nvSpPr>
        <p:spPr>
          <a:xfrm>
            <a:off x="8661400" y="38862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Пороговый ток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A3D506-F97F-F1CD-A8BA-946BB82E253D}"/>
              </a:ext>
            </a:extLst>
          </p:cNvPr>
          <p:cNvSpPr txBox="1"/>
          <p:nvPr/>
        </p:nvSpPr>
        <p:spPr>
          <a:xfrm>
            <a:off x="8661400" y="4279900"/>
            <a:ext cx="2387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До порога диод излучает слабо, почти как LED. После порога резонатор резко усиливает свет, и выходная мощность быстро растет.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EB4EED-901C-357B-B0AD-D6A2E2914B58}"/>
              </a:ext>
            </a:extLst>
          </p:cNvPr>
          <p:cNvSpPr txBox="1"/>
          <p:nvPr/>
        </p:nvSpPr>
        <p:spPr>
          <a:xfrm>
            <a:off x="1333500" y="5003800"/>
            <a:ext cx="6426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A9B5CC"/>
                </a:solidFill>
                <a:latin typeface="Aptos" panose="020B0004020202020204" pitchFamily="34" charset="0"/>
              </a:rPr>
              <a:t>Применение: волоконная связь, LiDAR, лазерные указки, принтеры, сканеры и оптические приводы.</a:t>
            </a:r>
          </a:p>
        </p:txBody>
      </p:sp>
    </p:spTree>
    <p:extLst>
      <p:ext uri="{BB962C8B-B14F-4D97-AF65-F5344CB8AC3E}">
        <p14:creationId xmlns:p14="http://schemas.microsoft.com/office/powerpoint/2010/main" val="116257390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1CCD03-FB5F-D17B-6142-D75E9A30D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BAECE9-7BDF-81B5-5008-B0C5898DD4C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B1F973-2BF9-9CE7-1CD9-6254B42319C5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386FA3-7422-10A1-8E47-B000ED84EBAC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4E7EF06-6C47-DEEF-6058-42728392AF7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03F3F5-D0C4-0240-4A39-9E4798DAE2FC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1BEC247-A1DD-B5A2-EDE6-42A26E532D3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E4F9679-F8BA-134D-C803-726CF41471D5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53D1380-59D5-757C-2AD5-DA2BDF13B314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018BBA0-D528-98BE-203E-C41E2EE2EE96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4081D28-58B7-8F1D-18E5-27AC5565979F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59CF21-C43D-BB12-3E40-CC5E542F2B5A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Фотоприемники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CF929-2EF1-A593-AC9A-23A5775862E5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Световой сигнал снова превращается в ток или напряжение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1BFB6-4F44-68E9-9460-CBD48125DF57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6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2308851-21BA-7718-8FDA-E84EC2BEB88A}"/>
              </a:ext>
            </a:extLst>
          </p:cNvPr>
          <p:cNvSpPr/>
          <p:nvPr/>
        </p:nvSpPr>
        <p:spPr>
          <a:xfrm>
            <a:off x="9906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A016BDA-7463-123D-99D1-5B27C628D568}"/>
              </a:ext>
            </a:extLst>
          </p:cNvPr>
          <p:cNvSpPr/>
          <p:nvPr/>
        </p:nvSpPr>
        <p:spPr>
          <a:xfrm>
            <a:off x="1168400" y="2044700"/>
            <a:ext cx="76200" cy="12700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3C454-2873-02C4-B95B-8E7AF8589F7F}"/>
              </a:ext>
            </a:extLst>
          </p:cNvPr>
          <p:cNvSpPr txBox="1"/>
          <p:nvPr/>
        </p:nvSpPr>
        <p:spPr>
          <a:xfrm>
            <a:off x="13716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Фотодиод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E6A148-7BAC-3098-E8A4-B85BD863DF2D}"/>
              </a:ext>
            </a:extLst>
          </p:cNvPr>
          <p:cNvSpPr txBox="1"/>
          <p:nvPr/>
        </p:nvSpPr>
        <p:spPr>
          <a:xfrm>
            <a:off x="13716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 фотодиоде падающий свет создает носители заряда в p-n переходе. Чем сильнее поток фотонов, тем больше фототок на выходе.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CBB3DD3-5D90-CD02-6167-606B8720E5DA}"/>
              </a:ext>
            </a:extLst>
          </p:cNvPr>
          <p:cNvSpPr/>
          <p:nvPr/>
        </p:nvSpPr>
        <p:spPr>
          <a:xfrm>
            <a:off x="45720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0F0425F-0F0F-4C3F-EAE0-A53AF15E8C7F}"/>
              </a:ext>
            </a:extLst>
          </p:cNvPr>
          <p:cNvSpPr/>
          <p:nvPr/>
        </p:nvSpPr>
        <p:spPr>
          <a:xfrm>
            <a:off x="4749800" y="2044700"/>
            <a:ext cx="76200" cy="12700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3A375-3C5F-E723-2083-A6211E35B151}"/>
              </a:ext>
            </a:extLst>
          </p:cNvPr>
          <p:cNvSpPr txBox="1"/>
          <p:nvPr/>
        </p:nvSpPr>
        <p:spPr>
          <a:xfrm>
            <a:off x="49530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Фототранзистор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9BCAD6-F5B1-DD06-ABF5-4FA7208F4E9D}"/>
              </a:ext>
            </a:extLst>
          </p:cNvPr>
          <p:cNvSpPr txBox="1"/>
          <p:nvPr/>
        </p:nvSpPr>
        <p:spPr>
          <a:xfrm>
            <a:off x="49530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Фототранзистор усиливает световой сигнал внутри структуры транзистора. Он чувствительнее фотодиода, но обычно переключается медленнее.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23B7AD9-DDDC-898F-DC09-03FFF574DC37}"/>
              </a:ext>
            </a:extLst>
          </p:cNvPr>
          <p:cNvSpPr/>
          <p:nvPr/>
        </p:nvSpPr>
        <p:spPr>
          <a:xfrm>
            <a:off x="8153400" y="1854200"/>
            <a:ext cx="3302000" cy="1651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8C7DEAC-1387-DE6E-23FC-BBC4002520DE}"/>
              </a:ext>
            </a:extLst>
          </p:cNvPr>
          <p:cNvSpPr/>
          <p:nvPr/>
        </p:nvSpPr>
        <p:spPr>
          <a:xfrm>
            <a:off x="8331200" y="2044700"/>
            <a:ext cx="76200" cy="12700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EFCB9-90DA-1000-42CA-BEB4FB0946EA}"/>
              </a:ext>
            </a:extLst>
          </p:cNvPr>
          <p:cNvSpPr txBox="1"/>
          <p:nvPr/>
        </p:nvSpPr>
        <p:spPr>
          <a:xfrm>
            <a:off x="8534400" y="2032000"/>
            <a:ext cx="273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Лавинный фотодиод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998FD8-EC38-F8E8-868E-0E5C7619D086}"/>
              </a:ext>
            </a:extLst>
          </p:cNvPr>
          <p:cNvSpPr txBox="1"/>
          <p:nvPr/>
        </p:nvSpPr>
        <p:spPr>
          <a:xfrm>
            <a:off x="8534400" y="2425700"/>
            <a:ext cx="2768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Лавинный фотодиод усиливает слабый сигнал за счет умножения носителей. За высокую чувствительность приходится платить шумом и сложным питанием.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0399750-E4DF-1FD5-B497-4EED9B9333F5}"/>
              </a:ext>
            </a:extLst>
          </p:cNvPr>
          <p:cNvSpPr/>
          <p:nvPr/>
        </p:nvSpPr>
        <p:spPr>
          <a:xfrm>
            <a:off x="2717800" y="4343400"/>
            <a:ext cx="1397000" cy="685800"/>
          </a:xfrm>
          <a:prstGeom prst="ellipse">
            <a:avLst/>
          </a:prstGeom>
          <a:solidFill>
            <a:srgbClr val="1D2436">
              <a:alpha val="98000"/>
            </a:srgbClr>
          </a:solidFill>
          <a:ln w="19050" cap="flat" cmpd="sng" algn="ctr">
            <a:solidFill>
              <a:srgbClr val="4BDC92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A3DA9B8-A9D0-AA1D-57E0-789D5AD3D0D0}"/>
              </a:ext>
            </a:extLst>
          </p:cNvPr>
          <p:cNvSpPr/>
          <p:nvPr/>
        </p:nvSpPr>
        <p:spPr>
          <a:xfrm>
            <a:off x="3200400" y="4495800"/>
            <a:ext cx="431800" cy="4318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F011F82-252D-E792-F6A4-6D1F3D3EBA40}"/>
              </a:ext>
            </a:extLst>
          </p:cNvPr>
          <p:cNvCxnSpPr/>
          <p:nvPr/>
        </p:nvCxnSpPr>
        <p:spPr>
          <a:xfrm>
            <a:off x="1092200" y="4521200"/>
            <a:ext cx="1701800" cy="1524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62EB55F4-22EA-8719-2DF8-3634A144DEB1}"/>
              </a:ext>
            </a:extLst>
          </p:cNvPr>
          <p:cNvCxnSpPr/>
          <p:nvPr/>
        </p:nvCxnSpPr>
        <p:spPr>
          <a:xfrm>
            <a:off x="1397000" y="4584700"/>
            <a:ext cx="1600200" cy="889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4FF82DE-E504-894D-2CA2-F8B8E56D8BC1}"/>
              </a:ext>
            </a:extLst>
          </p:cNvPr>
          <p:cNvCxnSpPr/>
          <p:nvPr/>
        </p:nvCxnSpPr>
        <p:spPr>
          <a:xfrm>
            <a:off x="1701800" y="4648200"/>
            <a:ext cx="1498600" cy="254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BFBBF13-B8F8-DCA9-12EE-C8AA2731BED9}"/>
              </a:ext>
            </a:extLst>
          </p:cNvPr>
          <p:cNvCxnSpPr/>
          <p:nvPr/>
        </p:nvCxnSpPr>
        <p:spPr>
          <a:xfrm flipV="1">
            <a:off x="2006600" y="4673600"/>
            <a:ext cx="1397000" cy="381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25CD3A4-F18C-7D30-7C5C-81E34EEE4C41}"/>
              </a:ext>
            </a:extLst>
          </p:cNvPr>
          <p:cNvCxnSpPr/>
          <p:nvPr/>
        </p:nvCxnSpPr>
        <p:spPr>
          <a:xfrm flipV="1">
            <a:off x="2311400" y="4673600"/>
            <a:ext cx="1295400" cy="101600"/>
          </a:xfrm>
          <a:prstGeom prst="line">
            <a:avLst/>
          </a:prstGeom>
          <a:ln w="2286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63B2FD-4E63-AF16-C8FA-26F507DE24CF}"/>
              </a:ext>
            </a:extLst>
          </p:cNvPr>
          <p:cNvSpPr txBox="1"/>
          <p:nvPr/>
        </p:nvSpPr>
        <p:spPr>
          <a:xfrm>
            <a:off x="4800600" y="4368800"/>
            <a:ext cx="54610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900" b="1">
                <a:solidFill>
                  <a:srgbClr val="F3F7FF"/>
                </a:solidFill>
                <a:latin typeface="Aptos" panose="020B0004020202020204" pitchFamily="34" charset="0"/>
              </a:rPr>
              <a:t>Ключевые параметры: спектральная чувствительность, темновой ток, шум, емкость перехода и время отклика.</a:t>
            </a:r>
          </a:p>
        </p:txBody>
      </p:sp>
    </p:spTree>
    <p:extLst>
      <p:ext uri="{BB962C8B-B14F-4D97-AF65-F5344CB8AC3E}">
        <p14:creationId xmlns:p14="http://schemas.microsoft.com/office/powerpoint/2010/main" val="368603482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6852F2-1047-2474-49CD-B70FF61688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9F91ED-6118-2809-5E04-D83FF4379F7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7D6345-307E-3E74-1679-C34E41BC3B72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11A2C3F-1214-8663-C9E8-011A9A30B499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4739B9E-BA51-BDA3-19EC-0DEE645B6D7B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8C9E9E4-AC59-9804-3054-C2F2434877BB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7967143-C071-7A64-348F-835B7CF5A255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C7D1D29-80AD-E980-EB6D-652B4BB31C47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1AD74FA-8780-8240-F37C-AD6867DCB7C7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40CE131-C0D2-68AD-8441-386C4FED62BC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FA5E97A-7A87-13B4-637A-D33C5CBFB57D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95A155-B5B5-B7ED-531B-2B5D78FF2D2B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Оптроны: безопасная развязка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099A2-0E12-A0DE-1B1F-BCD2DE9C4C31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Сигнал проходит светом, а электрического контакта между цепями нет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95C62-DA7F-2386-9C4B-EB50EB3E0A39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7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9955251-F5D8-43FC-17B6-EB3DF977A970}"/>
              </a:ext>
            </a:extLst>
          </p:cNvPr>
          <p:cNvSpPr/>
          <p:nvPr/>
        </p:nvSpPr>
        <p:spPr>
          <a:xfrm>
            <a:off x="1092200" y="2413000"/>
            <a:ext cx="2794000" cy="1778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1FDCE8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85F77D-CB4C-2F2F-FE87-816337CFF3D4}"/>
              </a:ext>
            </a:extLst>
          </p:cNvPr>
          <p:cNvSpPr/>
          <p:nvPr/>
        </p:nvSpPr>
        <p:spPr>
          <a:xfrm>
            <a:off x="8229600" y="2413000"/>
            <a:ext cx="2794000" cy="1778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4BDC92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6849A2B-C160-31EB-CA00-DD37233086C0}"/>
              </a:ext>
            </a:extLst>
          </p:cNvPr>
          <p:cNvSpPr/>
          <p:nvPr/>
        </p:nvSpPr>
        <p:spPr>
          <a:xfrm>
            <a:off x="5461000" y="1651000"/>
            <a:ext cx="1168400" cy="3238500"/>
          </a:xfrm>
          <a:prstGeom prst="roundRect">
            <a:avLst/>
          </a:prstGeom>
          <a:solidFill>
            <a:srgbClr val="FFBE45">
              <a:alpha val="16000"/>
            </a:srgbClr>
          </a:solidFill>
          <a:ln w="15240" cap="flat" cmpd="sng" algn="ctr">
            <a:solidFill>
              <a:srgbClr val="FFBE45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2B87E-93C6-EF1A-290E-7C24A1CF0FCE}"/>
              </a:ext>
            </a:extLst>
          </p:cNvPr>
          <p:cNvSpPr txBox="1"/>
          <p:nvPr/>
        </p:nvSpPr>
        <p:spPr>
          <a:xfrm>
            <a:off x="1511300" y="2794000"/>
            <a:ext cx="190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входная цепь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7E56AC-AB81-EBE1-F9C5-72047A6E0EB6}"/>
              </a:ext>
            </a:extLst>
          </p:cNvPr>
          <p:cNvSpPr txBox="1"/>
          <p:nvPr/>
        </p:nvSpPr>
        <p:spPr>
          <a:xfrm>
            <a:off x="8674100" y="2794000"/>
            <a:ext cx="190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выходная цепь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25251-2B15-FB7B-451C-5F0BC12ACBB8}"/>
              </a:ext>
            </a:extLst>
          </p:cNvPr>
          <p:cNvSpPr txBox="1"/>
          <p:nvPr/>
        </p:nvSpPr>
        <p:spPr>
          <a:xfrm>
            <a:off x="5588000" y="2819400"/>
            <a:ext cx="914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300" b="1">
                <a:solidFill>
                  <a:srgbClr val="FFBE45"/>
                </a:solidFill>
                <a:latin typeface="Aptos" panose="020B0004020202020204" pitchFamily="34" charset="0"/>
              </a:rPr>
              <a:t>изоляционный
зазор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2493DE93-55E2-CEBB-328B-42707F20ED4D}"/>
              </a:ext>
            </a:extLst>
          </p:cNvPr>
          <p:cNvSpPr/>
          <p:nvPr/>
        </p:nvSpPr>
        <p:spPr>
          <a:xfrm>
            <a:off x="44196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33EB4F29-62DE-9D09-AB9B-482B84BB1444}"/>
              </a:ext>
            </a:extLst>
          </p:cNvPr>
          <p:cNvSpPr/>
          <p:nvPr/>
        </p:nvSpPr>
        <p:spPr>
          <a:xfrm>
            <a:off x="49149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0B4CC2CA-72E2-31A5-3547-F959173C8B27}"/>
              </a:ext>
            </a:extLst>
          </p:cNvPr>
          <p:cNvSpPr/>
          <p:nvPr/>
        </p:nvSpPr>
        <p:spPr>
          <a:xfrm>
            <a:off x="66802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09A8DA32-0D4E-8328-50A0-C60AC435B873}"/>
              </a:ext>
            </a:extLst>
          </p:cNvPr>
          <p:cNvSpPr/>
          <p:nvPr/>
        </p:nvSpPr>
        <p:spPr>
          <a:xfrm>
            <a:off x="7175500" y="3124200"/>
            <a:ext cx="152400" cy="1524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7C3035F-656E-48AA-F335-BBA0867EA5BD}"/>
              </a:ext>
            </a:extLst>
          </p:cNvPr>
          <p:cNvCxnSpPr/>
          <p:nvPr/>
        </p:nvCxnSpPr>
        <p:spPr>
          <a:xfrm>
            <a:off x="3886200" y="3200400"/>
            <a:ext cx="15621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79B6E9F-026E-4DC7-0DCF-72EB2188F165}"/>
              </a:ext>
            </a:extLst>
          </p:cNvPr>
          <p:cNvCxnSpPr/>
          <p:nvPr/>
        </p:nvCxnSpPr>
        <p:spPr>
          <a:xfrm>
            <a:off x="6629400" y="3200400"/>
            <a:ext cx="1600200" cy="0"/>
          </a:xfrm>
          <a:prstGeom prst="line">
            <a:avLst/>
          </a:prstGeom>
          <a:ln w="33020" cap="flat" cmpd="sng" algn="ctr">
            <a:solidFill>
              <a:srgbClr val="FFBE4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472B378-0E89-D33D-C65D-DBE5035ABEF7}"/>
              </a:ext>
            </a:extLst>
          </p:cNvPr>
          <p:cNvSpPr/>
          <p:nvPr/>
        </p:nvSpPr>
        <p:spPr>
          <a:xfrm>
            <a:off x="11684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4F95411-3B3B-9255-56B4-4FC03E926604}"/>
              </a:ext>
            </a:extLst>
          </p:cNvPr>
          <p:cNvSpPr/>
          <p:nvPr/>
        </p:nvSpPr>
        <p:spPr>
          <a:xfrm>
            <a:off x="1346200" y="5067300"/>
            <a:ext cx="76200" cy="8890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BF4C1-02C9-A819-E310-FC05F9DCB1F5}"/>
              </a:ext>
            </a:extLst>
          </p:cNvPr>
          <p:cNvSpPr txBox="1"/>
          <p:nvPr/>
        </p:nvSpPr>
        <p:spPr>
          <a:xfrm>
            <a:off x="15494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Зачем нужен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02AF52-5C5C-CC35-F0EF-1A1CB19E8544}"/>
              </a:ext>
            </a:extLst>
          </p:cNvPr>
          <p:cNvSpPr txBox="1"/>
          <p:nvPr/>
        </p:nvSpPr>
        <p:spPr>
          <a:xfrm>
            <a:off x="15494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 защищает низковольтную электронику от опасных напряжений, разрывает земляные петли и снижает влияние помех.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DE7BF1C-60B7-D85B-8070-4512330AD931}"/>
              </a:ext>
            </a:extLst>
          </p:cNvPr>
          <p:cNvSpPr/>
          <p:nvPr/>
        </p:nvSpPr>
        <p:spPr>
          <a:xfrm>
            <a:off x="45720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F07685E-78C6-0EBB-1625-98204956E33A}"/>
              </a:ext>
            </a:extLst>
          </p:cNvPr>
          <p:cNvSpPr/>
          <p:nvPr/>
        </p:nvSpPr>
        <p:spPr>
          <a:xfrm>
            <a:off x="4749800" y="5067300"/>
            <a:ext cx="76200" cy="8890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B1DDD2-AD6F-2450-A027-6B84A087C9B6}"/>
              </a:ext>
            </a:extLst>
          </p:cNvPr>
          <p:cNvSpPr txBox="1"/>
          <p:nvPr/>
        </p:nvSpPr>
        <p:spPr>
          <a:xfrm>
            <a:off x="49530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Важные параметры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0AE205-9F16-07F9-CD6D-B075AA8A7C77}"/>
              </a:ext>
            </a:extLst>
          </p:cNvPr>
          <p:cNvSpPr txBox="1"/>
          <p:nvPr/>
        </p:nvSpPr>
        <p:spPr>
          <a:xfrm>
            <a:off x="49530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Для расчета смотрят CTR, напряжение изоляции, скорость переключения, входной ток светодиода и тип выходного элемента.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190BC501-C3B7-BECB-6407-E84015A545E9}"/>
              </a:ext>
            </a:extLst>
          </p:cNvPr>
          <p:cNvSpPr/>
          <p:nvPr/>
        </p:nvSpPr>
        <p:spPr>
          <a:xfrm>
            <a:off x="7975600" y="4876800"/>
            <a:ext cx="3048000" cy="12700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5238A283-A14D-27B0-4D04-E61707510150}"/>
              </a:ext>
            </a:extLst>
          </p:cNvPr>
          <p:cNvSpPr/>
          <p:nvPr/>
        </p:nvSpPr>
        <p:spPr>
          <a:xfrm>
            <a:off x="8153400" y="5067300"/>
            <a:ext cx="76200" cy="8890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E6978F-0C61-DD12-EB73-CEB91CA61CB7}"/>
              </a:ext>
            </a:extLst>
          </p:cNvPr>
          <p:cNvSpPr txBox="1"/>
          <p:nvPr/>
        </p:nvSpPr>
        <p:spPr>
          <a:xfrm>
            <a:off x="8356600" y="50546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Типы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40896-CE0C-6974-25D3-037E6DF51613}"/>
              </a:ext>
            </a:extLst>
          </p:cNvPr>
          <p:cNvSpPr txBox="1"/>
          <p:nvPr/>
        </p:nvSpPr>
        <p:spPr>
          <a:xfrm>
            <a:off x="8356600" y="54483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Встречаются фототранзисторные, фотодиодные, логические и симисторные оптроны. Тип выбирают по нагрузке и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133146261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0BF165-533C-7DC2-6A29-D7141260D1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835C000-B6E1-E200-D703-A21E81B11F9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349062-5708-E508-6AC0-4F3DA53A9A66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AF947F-54EE-45F7-BCAC-CEDFCCB57297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F816F74-9C38-3F85-59BB-410F630DF4BF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F4B4BA0-434E-1EEB-3E85-50801740D0F5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EDECEA2-7FCD-C179-ECF3-656F04D1CB78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B55E7B7-40A6-1784-61FE-E46FA0BEA1A1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71B4452-A06C-F9B5-F5EB-8FEFBDC2117F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CB46753-7AAE-90B4-DA72-11A7169BAD84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BE7C444-1DD8-95AF-01CC-64D4027EEB1B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4AF9B5-C5F9-7B34-03F0-6AB699207F60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Передача данных по оптоволокну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72845-C158-685B-B752-239040A92A0A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Световой импульс несет биты, а стеклянное волокно направляет его за счет полного внутреннего отражения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56970-4646-2DBA-863E-0CE54AF967BA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8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627989F-7C97-210E-B894-F4F76C867592}"/>
              </a:ext>
            </a:extLst>
          </p:cNvPr>
          <p:cNvSpPr/>
          <p:nvPr/>
        </p:nvSpPr>
        <p:spPr>
          <a:xfrm>
            <a:off x="939800" y="2667000"/>
            <a:ext cx="2032000" cy="1397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1FDCE8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B0D24-CE62-ABF4-51CA-48B6AF0CB5D8}"/>
              </a:ext>
            </a:extLst>
          </p:cNvPr>
          <p:cNvSpPr txBox="1"/>
          <p:nvPr/>
        </p:nvSpPr>
        <p:spPr>
          <a:xfrm>
            <a:off x="1270000" y="3098800"/>
            <a:ext cx="137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передатчик
</a:t>
            </a:r>
            <a:r>
              <a:rPr lang="en-US" sz="1500" b="1">
                <a:solidFill>
                  <a:srgbClr val="F3F7FF"/>
                </a:solidFill>
                <a:latin typeface="Aptos" panose="020B0004020202020204" pitchFamily="34" charset="0"/>
              </a:rPr>
              <a:t>LED/</a:t>
            </a:r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лазер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4BFA329-BEA7-8FD8-784A-5F188EC1F54A}"/>
              </a:ext>
            </a:extLst>
          </p:cNvPr>
          <p:cNvSpPr/>
          <p:nvPr/>
        </p:nvSpPr>
        <p:spPr>
          <a:xfrm>
            <a:off x="9245600" y="2667000"/>
            <a:ext cx="2032000" cy="1397000"/>
          </a:xfrm>
          <a:prstGeom prst="roundRect">
            <a:avLst/>
          </a:prstGeom>
          <a:solidFill>
            <a:srgbClr val="1D2436">
              <a:alpha val="96000"/>
            </a:srgbClr>
          </a:solidFill>
          <a:ln w="19050" cap="flat" cmpd="sng" algn="ctr">
            <a:solidFill>
              <a:srgbClr val="4BDC9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DEDDED-AA7B-FE01-7923-7DCC179D4FD2}"/>
              </a:ext>
            </a:extLst>
          </p:cNvPr>
          <p:cNvSpPr txBox="1"/>
          <p:nvPr/>
        </p:nvSpPr>
        <p:spPr>
          <a:xfrm>
            <a:off x="9575800" y="3098800"/>
            <a:ext cx="137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F3F7FF"/>
                </a:solidFill>
                <a:latin typeface="Aptos" panose="020B0004020202020204" pitchFamily="34" charset="0"/>
              </a:rPr>
              <a:t>приемник
фотодиод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8A5C65D-8B3D-5E61-34C9-F110AAA09FE6}"/>
              </a:ext>
            </a:extLst>
          </p:cNvPr>
          <p:cNvSpPr/>
          <p:nvPr/>
        </p:nvSpPr>
        <p:spPr>
          <a:xfrm>
            <a:off x="3238500" y="3098800"/>
            <a:ext cx="5740400" cy="558800"/>
          </a:xfrm>
          <a:prstGeom prst="roundRect">
            <a:avLst/>
          </a:prstGeom>
          <a:solidFill>
            <a:srgbClr val="161C2A">
              <a:alpha val="88000"/>
            </a:srgbClr>
          </a:solidFill>
          <a:ln w="27940" cap="flat" cmpd="sng" algn="ctr">
            <a:solidFill>
              <a:srgbClr val="4BDC92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F5E109B2-0BFB-7DFE-A8C8-002A5CF7FBDD}"/>
              </a:ext>
            </a:extLst>
          </p:cNvPr>
          <p:cNvSpPr/>
          <p:nvPr/>
        </p:nvSpPr>
        <p:spPr>
          <a:xfrm>
            <a:off x="35052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758260E-E5CC-9A0A-777A-B5A65697E3C7}"/>
              </a:ext>
            </a:extLst>
          </p:cNvPr>
          <p:cNvSpPr/>
          <p:nvPr/>
        </p:nvSpPr>
        <p:spPr>
          <a:xfrm>
            <a:off x="38989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5BE4B04-DCD4-82C4-C357-5D8A2CD467A6}"/>
              </a:ext>
            </a:extLst>
          </p:cNvPr>
          <p:cNvSpPr/>
          <p:nvPr/>
        </p:nvSpPr>
        <p:spPr>
          <a:xfrm>
            <a:off x="42926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B10741E-4CC5-4754-B818-4BD765A58F10}"/>
              </a:ext>
            </a:extLst>
          </p:cNvPr>
          <p:cNvSpPr/>
          <p:nvPr/>
        </p:nvSpPr>
        <p:spPr>
          <a:xfrm>
            <a:off x="46863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4205ED9-8D7F-D180-55DE-F57F8B243F70}"/>
              </a:ext>
            </a:extLst>
          </p:cNvPr>
          <p:cNvSpPr/>
          <p:nvPr/>
        </p:nvSpPr>
        <p:spPr>
          <a:xfrm>
            <a:off x="50800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B5F7339-D30F-C3C4-CC37-1ED4351D25A1}"/>
              </a:ext>
            </a:extLst>
          </p:cNvPr>
          <p:cNvSpPr/>
          <p:nvPr/>
        </p:nvSpPr>
        <p:spPr>
          <a:xfrm>
            <a:off x="54737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00A78B0E-E42F-F771-7C37-3F27CBB541BB}"/>
              </a:ext>
            </a:extLst>
          </p:cNvPr>
          <p:cNvSpPr/>
          <p:nvPr/>
        </p:nvSpPr>
        <p:spPr>
          <a:xfrm>
            <a:off x="58674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FC924177-0410-FEAA-AA9C-CC4EA6309BEE}"/>
              </a:ext>
            </a:extLst>
          </p:cNvPr>
          <p:cNvSpPr/>
          <p:nvPr/>
        </p:nvSpPr>
        <p:spPr>
          <a:xfrm>
            <a:off x="62611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BFBFDD52-A14B-3893-2937-B187841E3318}"/>
              </a:ext>
            </a:extLst>
          </p:cNvPr>
          <p:cNvSpPr/>
          <p:nvPr/>
        </p:nvSpPr>
        <p:spPr>
          <a:xfrm>
            <a:off x="66548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220BE7-751F-727A-7E4B-24A7AC8014F3}"/>
              </a:ext>
            </a:extLst>
          </p:cNvPr>
          <p:cNvSpPr/>
          <p:nvPr/>
        </p:nvSpPr>
        <p:spPr>
          <a:xfrm>
            <a:off x="70485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F08EF682-424B-A1FA-1816-8258A8FC7C8A}"/>
              </a:ext>
            </a:extLst>
          </p:cNvPr>
          <p:cNvSpPr/>
          <p:nvPr/>
        </p:nvSpPr>
        <p:spPr>
          <a:xfrm>
            <a:off x="74422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9E5D4E36-789B-F2CC-5CF5-24D2864F5A4D}"/>
              </a:ext>
            </a:extLst>
          </p:cNvPr>
          <p:cNvSpPr/>
          <p:nvPr/>
        </p:nvSpPr>
        <p:spPr>
          <a:xfrm>
            <a:off x="7835900" y="34036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C563C5C-7272-934E-D315-F44B0A6CE644}"/>
              </a:ext>
            </a:extLst>
          </p:cNvPr>
          <p:cNvSpPr/>
          <p:nvPr/>
        </p:nvSpPr>
        <p:spPr>
          <a:xfrm>
            <a:off x="8229600" y="3302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6826B32-C232-525D-DDE8-13D973EF132E}"/>
              </a:ext>
            </a:extLst>
          </p:cNvPr>
          <p:cNvCxnSpPr/>
          <p:nvPr/>
        </p:nvCxnSpPr>
        <p:spPr>
          <a:xfrm>
            <a:off x="2971800" y="3378200"/>
            <a:ext cx="266700" cy="0"/>
          </a:xfrm>
          <a:prstGeom prst="line">
            <a:avLst/>
          </a:prstGeom>
          <a:ln w="35560" cap="flat" cmpd="sng" algn="ctr">
            <a:solidFill>
              <a:srgbClr val="1FDCE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8BD637E-E215-7841-238C-FC05FAC33BCE}"/>
              </a:ext>
            </a:extLst>
          </p:cNvPr>
          <p:cNvCxnSpPr/>
          <p:nvPr/>
        </p:nvCxnSpPr>
        <p:spPr>
          <a:xfrm>
            <a:off x="8978900" y="3378200"/>
            <a:ext cx="266700" cy="0"/>
          </a:xfrm>
          <a:prstGeom prst="line">
            <a:avLst/>
          </a:prstGeom>
          <a:ln w="35560" cap="flat" cmpd="sng" algn="ctr">
            <a:solidFill>
              <a:srgbClr val="4BDC92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80F84DA-F02D-CB7B-38F0-60ADE8586205}"/>
              </a:ext>
            </a:extLst>
          </p:cNvPr>
          <p:cNvSpPr/>
          <p:nvPr/>
        </p:nvSpPr>
        <p:spPr>
          <a:xfrm>
            <a:off x="11684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3487A391-FFE3-48C3-C859-E8651019C58D}"/>
              </a:ext>
            </a:extLst>
          </p:cNvPr>
          <p:cNvSpPr/>
          <p:nvPr/>
        </p:nvSpPr>
        <p:spPr>
          <a:xfrm>
            <a:off x="1346200" y="4889500"/>
            <a:ext cx="76200" cy="9144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0A4AD-F5C5-3DE4-3037-6AD74688A098}"/>
              </a:ext>
            </a:extLst>
          </p:cNvPr>
          <p:cNvSpPr txBox="1"/>
          <p:nvPr/>
        </p:nvSpPr>
        <p:spPr>
          <a:xfrm>
            <a:off x="15494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Длины волн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2B83F-3530-5429-C222-A87C3B6EF55B}"/>
              </a:ext>
            </a:extLst>
          </p:cNvPr>
          <p:cNvSpPr txBox="1"/>
          <p:nvPr/>
        </p:nvSpPr>
        <p:spPr>
          <a:xfrm>
            <a:off x="1549400" y="52705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Для коротких multimode-линий часто применяют 850 нм. В дальних single-mode-линиях обычно используют 1310 или 1550 нм.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FFE546E-0385-6BAB-1B70-ACF16EC45BC8}"/>
              </a:ext>
            </a:extLst>
          </p:cNvPr>
          <p:cNvSpPr/>
          <p:nvPr/>
        </p:nvSpPr>
        <p:spPr>
          <a:xfrm>
            <a:off x="45720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7B839898-9E61-ECF9-0C9F-413EF014F8A7}"/>
              </a:ext>
            </a:extLst>
          </p:cNvPr>
          <p:cNvSpPr/>
          <p:nvPr/>
        </p:nvSpPr>
        <p:spPr>
          <a:xfrm>
            <a:off x="4749800" y="4889500"/>
            <a:ext cx="76200" cy="9144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68731F-802D-80B3-6FB8-BEEA94C8FFC8}"/>
              </a:ext>
            </a:extLst>
          </p:cNvPr>
          <p:cNvSpPr txBox="1"/>
          <p:nvPr/>
        </p:nvSpPr>
        <p:spPr>
          <a:xfrm>
            <a:off x="49530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Преимущества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80CF9E-CCAD-A97D-48EF-EF5639131D5B}"/>
              </a:ext>
            </a:extLst>
          </p:cNvPr>
          <p:cNvSpPr txBox="1"/>
          <p:nvPr/>
        </p:nvSpPr>
        <p:spPr>
          <a:xfrm>
            <a:off x="4953000" y="5270500"/>
            <a:ext cx="2514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Оптоволокно дает большую полосу пропускания, малые потери, небольшой вес кабеля и хорошую защиту от электромагнитных помех.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DED2B3F-4FCF-FAF0-FCE0-939A38203F8D}"/>
              </a:ext>
            </a:extLst>
          </p:cNvPr>
          <p:cNvSpPr/>
          <p:nvPr/>
        </p:nvSpPr>
        <p:spPr>
          <a:xfrm>
            <a:off x="7975600" y="4699000"/>
            <a:ext cx="3048000" cy="12954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1DFEF937-541A-CC3B-F884-F1BBF39671C4}"/>
              </a:ext>
            </a:extLst>
          </p:cNvPr>
          <p:cNvSpPr/>
          <p:nvPr/>
        </p:nvSpPr>
        <p:spPr>
          <a:xfrm>
            <a:off x="8153400" y="4889500"/>
            <a:ext cx="76200" cy="9144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729A8-1A00-A35F-A554-D0FB3F968792}"/>
              </a:ext>
            </a:extLst>
          </p:cNvPr>
          <p:cNvSpPr txBox="1"/>
          <p:nvPr/>
        </p:nvSpPr>
        <p:spPr>
          <a:xfrm>
            <a:off x="8356600" y="4876800"/>
            <a:ext cx="2476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913937-CBC4-897F-380E-214E602BD39E}"/>
              </a:ext>
            </a:extLst>
          </p:cNvPr>
          <p:cNvSpPr txBox="1"/>
          <p:nvPr/>
        </p:nvSpPr>
        <p:spPr>
          <a:xfrm>
            <a:off x="8356600" y="5270500"/>
            <a:ext cx="2514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Линия требует точных коннекторов, чистых торцов, контроля радиуса изгиба и расчета запаса оптической мощности.</a:t>
            </a:r>
          </a:p>
        </p:txBody>
      </p:sp>
    </p:spTree>
    <p:extLst>
      <p:ext uri="{BB962C8B-B14F-4D97-AF65-F5344CB8AC3E}">
        <p14:creationId xmlns:p14="http://schemas.microsoft.com/office/powerpoint/2010/main" val="209751453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C2CFCB-FA8F-2F45-25D6-AC0C051E01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FDA41A-1306-FAE8-2616-9F04F0D6AA9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FDCE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D555A2-2CC5-1789-E431-5BE6D2C38A10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1FDCE8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CB9E95-BE6E-6198-7ED3-7FFC02B4DCC2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AFF3AB0-2A33-0BA5-C24B-F644D678F260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1278AD6-46FE-E558-A80D-719101A067DB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A6F6D07-AB22-AD52-33E0-2884793FD1EA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204D5D8-C457-CB6F-2FB6-AFA6B352D0F4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35200B3-983B-334F-65AB-E929B41EC2C2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598B4FA-D24C-941F-8905-DEA1F070623A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DF476C9-26BF-76B9-3AD9-49BEFAF98935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C9FFE1-5065-702C-D91E-C23DE18616D2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Качество оптической линии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38C5D-45BF-E681-6E63-B871A88B8950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Даже у света есть бюджет: мощность, потери, дисперсия и шум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8DDFD-4516-4146-D3C6-3D3D3B313D92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3C55997-D4B3-8BE4-1DDA-7A3803DB7277}"/>
              </a:ext>
            </a:extLst>
          </p:cNvPr>
          <p:cNvSpPr/>
          <p:nvPr/>
        </p:nvSpPr>
        <p:spPr>
          <a:xfrm>
            <a:off x="9144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4A79980-01C7-D945-1508-B76B547DA8E0}"/>
              </a:ext>
            </a:extLst>
          </p:cNvPr>
          <p:cNvSpPr/>
          <p:nvPr/>
        </p:nvSpPr>
        <p:spPr>
          <a:xfrm>
            <a:off x="1092200" y="2032000"/>
            <a:ext cx="76200" cy="11176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30470-3A25-90C3-E08C-AEDBA2AEC551}"/>
              </a:ext>
            </a:extLst>
          </p:cNvPr>
          <p:cNvSpPr txBox="1"/>
          <p:nvPr/>
        </p:nvSpPr>
        <p:spPr>
          <a:xfrm>
            <a:off x="12954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Потери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E54732-B6BD-93AE-E5B7-2950E7C74D80}"/>
              </a:ext>
            </a:extLst>
          </p:cNvPr>
          <p:cNvSpPr txBox="1"/>
          <p:nvPr/>
        </p:nvSpPr>
        <p:spPr>
          <a:xfrm>
            <a:off x="1295400" y="24130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Сигнал ослабевает в волокне, разъемах, сварках и на сильных изгибах. Если запас мощности мал, приемник чаще ошибается.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04F0515-328E-D731-340B-E7AD94341E5E}"/>
              </a:ext>
            </a:extLst>
          </p:cNvPr>
          <p:cNvSpPr/>
          <p:nvPr/>
        </p:nvSpPr>
        <p:spPr>
          <a:xfrm>
            <a:off x="44958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905F0B3-1B51-EECC-6D9D-160A9B1C1515}"/>
              </a:ext>
            </a:extLst>
          </p:cNvPr>
          <p:cNvSpPr/>
          <p:nvPr/>
        </p:nvSpPr>
        <p:spPr>
          <a:xfrm>
            <a:off x="4673600" y="2032000"/>
            <a:ext cx="76200" cy="11176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C5391-DC24-2E41-F851-4404D5D51CB1}"/>
              </a:ext>
            </a:extLst>
          </p:cNvPr>
          <p:cNvSpPr txBox="1"/>
          <p:nvPr/>
        </p:nvSpPr>
        <p:spPr>
          <a:xfrm>
            <a:off x="48768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Дисперсия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1ECD8-01D5-9062-44BF-15C30EFB8CA4}"/>
              </a:ext>
            </a:extLst>
          </p:cNvPr>
          <p:cNvSpPr txBox="1"/>
          <p:nvPr/>
        </p:nvSpPr>
        <p:spPr>
          <a:xfrm>
            <a:off x="4876800" y="2413000"/>
            <a:ext cx="2641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Оптический импульс растягивается во времени. На высокой скорости это приводит к наложению соседних битов.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986FD65-5029-826A-4067-DCDD0A76BD63}"/>
              </a:ext>
            </a:extLst>
          </p:cNvPr>
          <p:cNvSpPr/>
          <p:nvPr/>
        </p:nvSpPr>
        <p:spPr>
          <a:xfrm>
            <a:off x="8077200" y="1841500"/>
            <a:ext cx="3175000" cy="1498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B3E9180-337A-CAEA-4500-A24D515AFCA4}"/>
              </a:ext>
            </a:extLst>
          </p:cNvPr>
          <p:cNvSpPr/>
          <p:nvPr/>
        </p:nvSpPr>
        <p:spPr>
          <a:xfrm>
            <a:off x="8255000" y="2032000"/>
            <a:ext cx="76200" cy="11176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D8B67F-7D99-C47F-7FA0-BA2DD341D87D}"/>
              </a:ext>
            </a:extLst>
          </p:cNvPr>
          <p:cNvSpPr txBox="1"/>
          <p:nvPr/>
        </p:nvSpPr>
        <p:spPr>
          <a:xfrm>
            <a:off x="8458200" y="20193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Модуляция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110139-8885-1BA6-BE6F-AC55D14EF822}"/>
              </a:ext>
            </a:extLst>
          </p:cNvPr>
          <p:cNvSpPr txBox="1"/>
          <p:nvPr/>
        </p:nvSpPr>
        <p:spPr>
          <a:xfrm>
            <a:off x="8458200" y="24130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Самый простой способ передачи — включать и выключать свет. В быстрых линиях применяют более сложные форматы кодирования.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6B242D4-DD53-6EC0-4736-207CDB6E45EE}"/>
              </a:ext>
            </a:extLst>
          </p:cNvPr>
          <p:cNvCxnSpPr/>
          <p:nvPr/>
        </p:nvCxnSpPr>
        <p:spPr>
          <a:xfrm>
            <a:off x="1600200" y="4889500"/>
            <a:ext cx="8864600" cy="0"/>
          </a:xfrm>
          <a:prstGeom prst="line">
            <a:avLst/>
          </a:prstGeom>
          <a:ln w="15240" cap="flat" cmpd="sng" algn="ctr">
            <a:solidFill>
              <a:srgbClr val="4E5B7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C350CFC-983A-4AD1-7B81-AFB133B11D9B}"/>
              </a:ext>
            </a:extLst>
          </p:cNvPr>
          <p:cNvSpPr/>
          <p:nvPr/>
        </p:nvSpPr>
        <p:spPr>
          <a:xfrm>
            <a:off x="1778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E86FFFA-E6F9-3C96-D324-924AA9F040AF}"/>
              </a:ext>
            </a:extLst>
          </p:cNvPr>
          <p:cNvSpPr/>
          <p:nvPr/>
        </p:nvSpPr>
        <p:spPr>
          <a:xfrm>
            <a:off x="2286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4E9A1BB-E175-47BA-C4B0-621C565E2521}"/>
              </a:ext>
            </a:extLst>
          </p:cNvPr>
          <p:cNvSpPr/>
          <p:nvPr/>
        </p:nvSpPr>
        <p:spPr>
          <a:xfrm>
            <a:off x="2794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9861E14-9E78-172B-DC1E-51E9F6835CAE}"/>
              </a:ext>
            </a:extLst>
          </p:cNvPr>
          <p:cNvSpPr/>
          <p:nvPr/>
        </p:nvSpPr>
        <p:spPr>
          <a:xfrm>
            <a:off x="3302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F13B58B-18C5-23DF-6B73-1ADCEC29471F}"/>
              </a:ext>
            </a:extLst>
          </p:cNvPr>
          <p:cNvSpPr/>
          <p:nvPr/>
        </p:nvSpPr>
        <p:spPr>
          <a:xfrm>
            <a:off x="3810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979803F-70B1-03BD-9920-5F9B27233454}"/>
              </a:ext>
            </a:extLst>
          </p:cNvPr>
          <p:cNvSpPr/>
          <p:nvPr/>
        </p:nvSpPr>
        <p:spPr>
          <a:xfrm>
            <a:off x="4318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06B789E-9804-4D42-CA9D-FEE5473B3357}"/>
              </a:ext>
            </a:extLst>
          </p:cNvPr>
          <p:cNvSpPr/>
          <p:nvPr/>
        </p:nvSpPr>
        <p:spPr>
          <a:xfrm>
            <a:off x="4826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808C8D0-A469-9084-DA6C-8804E6F43CDC}"/>
              </a:ext>
            </a:extLst>
          </p:cNvPr>
          <p:cNvSpPr/>
          <p:nvPr/>
        </p:nvSpPr>
        <p:spPr>
          <a:xfrm>
            <a:off x="5334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D102E0F9-742F-9166-D961-3A3BE47DDFEC}"/>
              </a:ext>
            </a:extLst>
          </p:cNvPr>
          <p:cNvSpPr/>
          <p:nvPr/>
        </p:nvSpPr>
        <p:spPr>
          <a:xfrm>
            <a:off x="5842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EC0A34D-46ED-27D3-CECB-F58C5A4792A4}"/>
              </a:ext>
            </a:extLst>
          </p:cNvPr>
          <p:cNvSpPr/>
          <p:nvPr/>
        </p:nvSpPr>
        <p:spPr>
          <a:xfrm>
            <a:off x="6350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0C37E346-1CF6-5474-A0D0-CCA040DD9653}"/>
              </a:ext>
            </a:extLst>
          </p:cNvPr>
          <p:cNvSpPr/>
          <p:nvPr/>
        </p:nvSpPr>
        <p:spPr>
          <a:xfrm>
            <a:off x="6858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32F412A5-99D1-78CD-A476-F5C173E9C7A3}"/>
              </a:ext>
            </a:extLst>
          </p:cNvPr>
          <p:cNvSpPr/>
          <p:nvPr/>
        </p:nvSpPr>
        <p:spPr>
          <a:xfrm>
            <a:off x="7366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4B790308-A195-3F99-8468-798D442A5117}"/>
              </a:ext>
            </a:extLst>
          </p:cNvPr>
          <p:cNvSpPr/>
          <p:nvPr/>
        </p:nvSpPr>
        <p:spPr>
          <a:xfrm>
            <a:off x="7874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656791E4-E992-C088-F975-318412383793}"/>
              </a:ext>
            </a:extLst>
          </p:cNvPr>
          <p:cNvSpPr/>
          <p:nvPr/>
        </p:nvSpPr>
        <p:spPr>
          <a:xfrm>
            <a:off x="8382000" y="4356100"/>
            <a:ext cx="304800" cy="533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ADC1585-5153-2800-FB7B-BD7FFEC814D0}"/>
              </a:ext>
            </a:extLst>
          </p:cNvPr>
          <p:cNvSpPr/>
          <p:nvPr/>
        </p:nvSpPr>
        <p:spPr>
          <a:xfrm>
            <a:off x="8890000" y="4152900"/>
            <a:ext cx="304800" cy="7366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19E04478-1CDB-8646-65F0-C83D0AE12239}"/>
              </a:ext>
            </a:extLst>
          </p:cNvPr>
          <p:cNvSpPr/>
          <p:nvPr/>
        </p:nvSpPr>
        <p:spPr>
          <a:xfrm>
            <a:off x="9398000" y="3975100"/>
            <a:ext cx="304800" cy="914400"/>
          </a:xfrm>
          <a:prstGeom prst="round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E1A496-87E9-1916-AC22-54C62311B7BE}"/>
              </a:ext>
            </a:extLst>
          </p:cNvPr>
          <p:cNvSpPr txBox="1"/>
          <p:nvPr/>
        </p:nvSpPr>
        <p:spPr>
          <a:xfrm>
            <a:off x="1905000" y="5461000"/>
            <a:ext cx="838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F3F7FF"/>
                </a:solidFill>
                <a:latin typeface="Aptos" panose="020B0004020202020204" pitchFamily="34" charset="0"/>
              </a:rPr>
              <a:t>Идея: приемник должен уверенно отличать «1» от «0», пока импульсы не слишком ослабли и не расплылись.</a:t>
            </a:r>
          </a:p>
        </p:txBody>
      </p:sp>
    </p:spTree>
    <p:extLst>
      <p:ext uri="{BB962C8B-B14F-4D97-AF65-F5344CB8AC3E}">
        <p14:creationId xmlns:p14="http://schemas.microsoft.com/office/powerpoint/2010/main" val="391364897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361A26-1314-A800-4D5E-A99D30AFEA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702B8C8-0F07-5944-14FA-4DD04AECDC3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8A5C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12DFB6-32B3-28D7-52BA-A988CB82683E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8A5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7C65AD-F927-C877-8EA9-04507B763C07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20A7A95-91F0-BE49-3D66-8CCAC53F7E7F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4C92708-597C-9B27-140D-A75631EC4ED3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707DD44-2336-72C4-75FF-5A852F7A8711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2313A7-74D1-913B-E265-F174E6FDB560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4E8DE6-146D-BDC8-0540-9D3BA4A24A26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8E07392-C817-89D6-159C-C9ACAFB94E09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4C8071-B219-D868-885E-D99CAC37AF70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0904E8-0D46-88C4-476C-CDDE70F43FE9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Сравнение устройств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B603A-A552-3A95-AED4-B8D78B0E572D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Короткая таблица: что делает каждый элемент и где он силен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E775A-D84D-7481-0B00-BDF3DF10596B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10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C08CAE3-CFF0-6636-2023-ADE4DAAC6133}"/>
              </a:ext>
            </a:extLst>
          </p:cNvPr>
          <p:cNvSpPr/>
          <p:nvPr/>
        </p:nvSpPr>
        <p:spPr>
          <a:xfrm>
            <a:off x="685800" y="1651000"/>
            <a:ext cx="1841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FB64C-A958-CC1F-265D-6A27E911C9D6}"/>
              </a:ext>
            </a:extLst>
          </p:cNvPr>
          <p:cNvSpPr txBox="1"/>
          <p:nvPr/>
        </p:nvSpPr>
        <p:spPr>
          <a:xfrm>
            <a:off x="812800" y="1790700"/>
            <a:ext cx="1587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Устройство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182A1F6-2451-CC19-895D-1FAD24215EB7}"/>
              </a:ext>
            </a:extLst>
          </p:cNvPr>
          <p:cNvSpPr/>
          <p:nvPr/>
        </p:nvSpPr>
        <p:spPr>
          <a:xfrm>
            <a:off x="2768600" y="1651000"/>
            <a:ext cx="2349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BD82A-B763-4639-C130-895D7D52E7A0}"/>
              </a:ext>
            </a:extLst>
          </p:cNvPr>
          <p:cNvSpPr txBox="1"/>
          <p:nvPr/>
        </p:nvSpPr>
        <p:spPr>
          <a:xfrm>
            <a:off x="2895600" y="1790700"/>
            <a:ext cx="2095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Что делает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A9527DD-AB8F-C91B-A5CC-4C91A0686F1F}"/>
              </a:ext>
            </a:extLst>
          </p:cNvPr>
          <p:cNvSpPr/>
          <p:nvPr/>
        </p:nvSpPr>
        <p:spPr>
          <a:xfrm>
            <a:off x="5384800" y="1651000"/>
            <a:ext cx="24130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18BC10-D9D4-A76D-82EE-AED379E8DCA6}"/>
              </a:ext>
            </a:extLst>
          </p:cNvPr>
          <p:cNvSpPr txBox="1"/>
          <p:nvPr/>
        </p:nvSpPr>
        <p:spPr>
          <a:xfrm>
            <a:off x="5511800" y="1790700"/>
            <a:ext cx="2159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Сильная сторона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1096C44-CB93-9CF7-3A1A-7833F25ADD05}"/>
              </a:ext>
            </a:extLst>
          </p:cNvPr>
          <p:cNvSpPr/>
          <p:nvPr/>
        </p:nvSpPr>
        <p:spPr>
          <a:xfrm>
            <a:off x="8077200" y="1651000"/>
            <a:ext cx="2984500" cy="482600"/>
          </a:xfrm>
          <a:prstGeom prst="roundRect">
            <a:avLst/>
          </a:prstGeom>
          <a:solidFill>
            <a:srgbClr val="8A5CFF">
              <a:alpha val="85000"/>
            </a:srgbClr>
          </a:solidFill>
          <a:ln w="12700" cap="flat" cmpd="sng" algn="ctr">
            <a:solidFill>
              <a:srgbClr val="8A5CFF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46157-D129-2621-1B2C-C431EBC527C7}"/>
              </a:ext>
            </a:extLst>
          </p:cNvPr>
          <p:cNvSpPr txBox="1"/>
          <p:nvPr/>
        </p:nvSpPr>
        <p:spPr>
          <a:xfrm>
            <a:off x="8204200" y="1790700"/>
            <a:ext cx="273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050" b="1">
                <a:solidFill>
                  <a:srgbClr val="F3F7FF"/>
                </a:solidFill>
                <a:latin typeface="Aptos" panose="020B0004020202020204" pitchFamily="34" charset="0"/>
              </a:rPr>
              <a:t>Ограничение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1029109-8066-5F02-BDD2-C89D6588B9B5}"/>
              </a:ext>
            </a:extLst>
          </p:cNvPr>
          <p:cNvSpPr/>
          <p:nvPr/>
        </p:nvSpPr>
        <p:spPr>
          <a:xfrm>
            <a:off x="685800" y="2298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C2C906-314E-368C-9B8D-2EF15D40FFE2}"/>
              </a:ext>
            </a:extLst>
          </p:cNvPr>
          <p:cNvSpPr txBox="1"/>
          <p:nvPr/>
        </p:nvSpPr>
        <p:spPr>
          <a:xfrm>
            <a:off x="812800" y="2425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Светодиод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2F99307-5D48-1983-8999-678790115315}"/>
              </a:ext>
            </a:extLst>
          </p:cNvPr>
          <p:cNvSpPr/>
          <p:nvPr/>
        </p:nvSpPr>
        <p:spPr>
          <a:xfrm>
            <a:off x="2768600" y="2298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AA29D-A5DC-37BC-DF79-0EEDD09AD10C}"/>
              </a:ext>
            </a:extLst>
          </p:cNvPr>
          <p:cNvSpPr txBox="1"/>
          <p:nvPr/>
        </p:nvSpPr>
        <p:spPr>
          <a:xfrm>
            <a:off x="2895600" y="24257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излучает свет при прямом токе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DC65B43-540F-2061-5F3A-612F42F566A9}"/>
              </a:ext>
            </a:extLst>
          </p:cNvPr>
          <p:cNvSpPr/>
          <p:nvPr/>
        </p:nvSpPr>
        <p:spPr>
          <a:xfrm>
            <a:off x="5384800" y="2298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399D19-5103-8CB3-3ED2-4FB98B4C231F}"/>
              </a:ext>
            </a:extLst>
          </p:cNvPr>
          <p:cNvSpPr txBox="1"/>
          <p:nvPr/>
        </p:nvSpPr>
        <p:spPr>
          <a:xfrm>
            <a:off x="5511800" y="2425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простая схема и большой ресурс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094D3D5-0B86-5EF5-03CE-BA17C4E552C7}"/>
              </a:ext>
            </a:extLst>
          </p:cNvPr>
          <p:cNvSpPr/>
          <p:nvPr/>
        </p:nvSpPr>
        <p:spPr>
          <a:xfrm>
            <a:off x="8077200" y="2298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3EEF99-8B3C-CF5A-9DF0-D00C0C6F454B}"/>
              </a:ext>
            </a:extLst>
          </p:cNvPr>
          <p:cNvSpPr txBox="1"/>
          <p:nvPr/>
        </p:nvSpPr>
        <p:spPr>
          <a:xfrm>
            <a:off x="8204200" y="2425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нужен контроль тока и нагрева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0278F98-D4EF-4F96-90C3-E256DAC9B608}"/>
              </a:ext>
            </a:extLst>
          </p:cNvPr>
          <p:cNvSpPr/>
          <p:nvPr/>
        </p:nvSpPr>
        <p:spPr>
          <a:xfrm>
            <a:off x="685800" y="29972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66BE9B-2A0D-8D84-9757-3B1F1C122C96}"/>
              </a:ext>
            </a:extLst>
          </p:cNvPr>
          <p:cNvSpPr txBox="1"/>
          <p:nvPr/>
        </p:nvSpPr>
        <p:spPr>
          <a:xfrm>
            <a:off x="812800" y="31242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Лазерный диод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E4E46A2-5AA9-B13C-E53B-9829D9D16D41}"/>
              </a:ext>
            </a:extLst>
          </p:cNvPr>
          <p:cNvSpPr/>
          <p:nvPr/>
        </p:nvSpPr>
        <p:spPr>
          <a:xfrm>
            <a:off x="2768600" y="29972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1DED7B-8AD2-F773-DCD8-161F585D2DAE}"/>
              </a:ext>
            </a:extLst>
          </p:cNvPr>
          <p:cNvSpPr txBox="1"/>
          <p:nvPr/>
        </p:nvSpPr>
        <p:spPr>
          <a:xfrm>
            <a:off x="2895600" y="31242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создает узкий направленный луч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EDF1C31B-DA98-FF00-8AC6-714993EB8932}"/>
              </a:ext>
            </a:extLst>
          </p:cNvPr>
          <p:cNvSpPr/>
          <p:nvPr/>
        </p:nvSpPr>
        <p:spPr>
          <a:xfrm>
            <a:off x="5384800" y="29972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F4A1B-2DB1-8EE6-280F-104A6C81F05A}"/>
              </a:ext>
            </a:extLst>
          </p:cNvPr>
          <p:cNvSpPr txBox="1"/>
          <p:nvPr/>
        </p:nvSpPr>
        <p:spPr>
          <a:xfrm>
            <a:off x="5511800" y="31242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высокая скорость и дальность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3DA5D24-FD8F-9E3A-35DF-955A5A66AF5D}"/>
              </a:ext>
            </a:extLst>
          </p:cNvPr>
          <p:cNvSpPr/>
          <p:nvPr/>
        </p:nvSpPr>
        <p:spPr>
          <a:xfrm>
            <a:off x="8077200" y="29972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A4B59A-14BA-0F5B-3C60-B9FE2849C2B0}"/>
              </a:ext>
            </a:extLst>
          </p:cNvPr>
          <p:cNvSpPr txBox="1"/>
          <p:nvPr/>
        </p:nvSpPr>
        <p:spPr>
          <a:xfrm>
            <a:off x="8204200" y="31242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пороговый режим, тепло, безопасность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9C14F242-2CCA-3100-202B-DE80D0DA67BD}"/>
              </a:ext>
            </a:extLst>
          </p:cNvPr>
          <p:cNvSpPr/>
          <p:nvPr/>
        </p:nvSpPr>
        <p:spPr>
          <a:xfrm>
            <a:off x="685800" y="3695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7FDC25-1A1E-E9DC-05FE-2E6B2D9AAEDF}"/>
              </a:ext>
            </a:extLst>
          </p:cNvPr>
          <p:cNvSpPr txBox="1"/>
          <p:nvPr/>
        </p:nvSpPr>
        <p:spPr>
          <a:xfrm>
            <a:off x="812800" y="3822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Фотодиод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F5EFBB28-EB36-6E8B-0BE1-54835632F930}"/>
              </a:ext>
            </a:extLst>
          </p:cNvPr>
          <p:cNvSpPr/>
          <p:nvPr/>
        </p:nvSpPr>
        <p:spPr>
          <a:xfrm>
            <a:off x="2768600" y="3695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A73902-DFA3-BC0B-6A5D-F762CCE93026}"/>
              </a:ext>
            </a:extLst>
          </p:cNvPr>
          <p:cNvSpPr txBox="1"/>
          <p:nvPr/>
        </p:nvSpPr>
        <p:spPr>
          <a:xfrm>
            <a:off x="2895600" y="38227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создает фототок при освещении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D4D7545-CE47-9AB6-1191-14BB0D2A735E}"/>
              </a:ext>
            </a:extLst>
          </p:cNvPr>
          <p:cNvSpPr/>
          <p:nvPr/>
        </p:nvSpPr>
        <p:spPr>
          <a:xfrm>
            <a:off x="5384800" y="3695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71461F-58F6-3515-60F2-6C4025C3EED8}"/>
              </a:ext>
            </a:extLst>
          </p:cNvPr>
          <p:cNvSpPr txBox="1"/>
          <p:nvPr/>
        </p:nvSpPr>
        <p:spPr>
          <a:xfrm>
            <a:off x="5511800" y="3822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быстрый прием оптического сигнала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24F9D9C1-8D43-20F8-87D3-E8249F7A33D1}"/>
              </a:ext>
            </a:extLst>
          </p:cNvPr>
          <p:cNvSpPr/>
          <p:nvPr/>
        </p:nvSpPr>
        <p:spPr>
          <a:xfrm>
            <a:off x="8077200" y="3695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7B143E-E3FF-372D-EA72-54D90834318C}"/>
              </a:ext>
            </a:extLst>
          </p:cNvPr>
          <p:cNvSpPr txBox="1"/>
          <p:nvPr/>
        </p:nvSpPr>
        <p:spPr>
          <a:xfrm>
            <a:off x="8204200" y="3822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слабый сигнал требует усиления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8DF1F409-22E7-71A0-DE90-C161E68FF385}"/>
              </a:ext>
            </a:extLst>
          </p:cNvPr>
          <p:cNvSpPr/>
          <p:nvPr/>
        </p:nvSpPr>
        <p:spPr>
          <a:xfrm>
            <a:off x="685800" y="43942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E2FAC-F324-D9E9-CDE6-9842D48CECEC}"/>
              </a:ext>
            </a:extLst>
          </p:cNvPr>
          <p:cNvSpPr txBox="1"/>
          <p:nvPr/>
        </p:nvSpPr>
        <p:spPr>
          <a:xfrm>
            <a:off x="812800" y="45212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Оптрон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50DEEE3F-A06E-152D-49B5-FBE9B1D71601}"/>
              </a:ext>
            </a:extLst>
          </p:cNvPr>
          <p:cNvSpPr/>
          <p:nvPr/>
        </p:nvSpPr>
        <p:spPr>
          <a:xfrm>
            <a:off x="2768600" y="43942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61E149-27D7-7686-472D-7D38385DF504}"/>
              </a:ext>
            </a:extLst>
          </p:cNvPr>
          <p:cNvSpPr txBox="1"/>
          <p:nvPr/>
        </p:nvSpPr>
        <p:spPr>
          <a:xfrm>
            <a:off x="2895600" y="4521200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передает сигнал через световой канал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F8EE195A-D3D2-34D5-4F42-B77B358F52B4}"/>
              </a:ext>
            </a:extLst>
          </p:cNvPr>
          <p:cNvSpPr/>
          <p:nvPr/>
        </p:nvSpPr>
        <p:spPr>
          <a:xfrm>
            <a:off x="5384800" y="43942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A6062B-E5C8-7CEF-87E3-A8F891950762}"/>
              </a:ext>
            </a:extLst>
          </p:cNvPr>
          <p:cNvSpPr txBox="1"/>
          <p:nvPr/>
        </p:nvSpPr>
        <p:spPr>
          <a:xfrm>
            <a:off x="5511800" y="45212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электрически разделяет цепи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0A592811-FDCB-F960-80F8-DFFADB02320A}"/>
              </a:ext>
            </a:extLst>
          </p:cNvPr>
          <p:cNvSpPr/>
          <p:nvPr/>
        </p:nvSpPr>
        <p:spPr>
          <a:xfrm>
            <a:off x="8077200" y="43942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A634EE-9CCD-D0F2-02BD-76E05642DCB2}"/>
              </a:ext>
            </a:extLst>
          </p:cNvPr>
          <p:cNvSpPr txBox="1"/>
          <p:nvPr/>
        </p:nvSpPr>
        <p:spPr>
          <a:xfrm>
            <a:off x="8204200" y="45212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скорость ниже, чем у логики без развязки</a:t>
            </a:r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8FA06F8F-2AEC-9CC8-FBD2-66DA81050D01}"/>
              </a:ext>
            </a:extLst>
          </p:cNvPr>
          <p:cNvSpPr/>
          <p:nvPr/>
        </p:nvSpPr>
        <p:spPr>
          <a:xfrm>
            <a:off x="685800" y="5092700"/>
            <a:ext cx="1841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5F0DA6-BEDB-B716-C81B-48A3F96CD2FC}"/>
              </a:ext>
            </a:extLst>
          </p:cNvPr>
          <p:cNvSpPr txBox="1"/>
          <p:nvPr/>
        </p:nvSpPr>
        <p:spPr>
          <a:xfrm>
            <a:off x="812800" y="5219700"/>
            <a:ext cx="1587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1FDCE8"/>
                </a:solidFill>
                <a:latin typeface="Aptos" panose="020B0004020202020204" pitchFamily="34" charset="0"/>
              </a:rPr>
              <a:t>Оптоволокно</a:t>
            </a: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C40B7564-FD45-E5E1-E6DA-4E011BD0BD8D}"/>
              </a:ext>
            </a:extLst>
          </p:cNvPr>
          <p:cNvSpPr/>
          <p:nvPr/>
        </p:nvSpPr>
        <p:spPr>
          <a:xfrm>
            <a:off x="2768600" y="5092700"/>
            <a:ext cx="2349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DAD213-3465-4514-63F3-1B093ED1A823}"/>
              </a:ext>
            </a:extLst>
          </p:cNvPr>
          <p:cNvSpPr txBox="1"/>
          <p:nvPr/>
        </p:nvSpPr>
        <p:spPr>
          <a:xfrm>
            <a:off x="2895600" y="5219700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переносит данные световыми импульсами</a:t>
            </a:r>
          </a:p>
        </p:txBody>
      </p: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2BCE9587-4360-4507-B8F1-04F5D98FFBE7}"/>
              </a:ext>
            </a:extLst>
          </p:cNvPr>
          <p:cNvSpPr/>
          <p:nvPr/>
        </p:nvSpPr>
        <p:spPr>
          <a:xfrm>
            <a:off x="5384800" y="5092700"/>
            <a:ext cx="24130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A952F5-D298-F588-B0B9-45BA4B2B4DFD}"/>
              </a:ext>
            </a:extLst>
          </p:cNvPr>
          <p:cNvSpPr txBox="1"/>
          <p:nvPr/>
        </p:nvSpPr>
        <p:spPr>
          <a:xfrm>
            <a:off x="5511800" y="52197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дальность и защита от помех</a:t>
            </a:r>
          </a:p>
        </p:txBody>
      </p: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7C6D1926-886C-A9A8-5C39-568A9104D600}"/>
              </a:ext>
            </a:extLst>
          </p:cNvPr>
          <p:cNvSpPr/>
          <p:nvPr/>
        </p:nvSpPr>
        <p:spPr>
          <a:xfrm>
            <a:off x="8077200" y="5092700"/>
            <a:ext cx="2984500" cy="533400"/>
          </a:xfrm>
          <a:prstGeom prst="roundRect">
            <a:avLst/>
          </a:prstGeom>
          <a:solidFill>
            <a:srgbClr val="161C2A">
              <a:alpha val="96000"/>
            </a:srgbClr>
          </a:solidFill>
          <a:ln w="10160" cap="flat" cmpd="sng" algn="ctr">
            <a:solidFill>
              <a:srgbClr val="4E5B7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1BF740-93BD-08D2-287A-A5FFC12D1E66}"/>
              </a:ext>
            </a:extLst>
          </p:cNvPr>
          <p:cNvSpPr txBox="1"/>
          <p:nvPr/>
        </p:nvSpPr>
        <p:spPr>
          <a:xfrm>
            <a:off x="8204200" y="52197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>
                <a:solidFill>
                  <a:srgbClr val="A9B5CC"/>
                </a:solidFill>
                <a:latin typeface="Aptos" panose="020B0004020202020204" pitchFamily="34" charset="0"/>
              </a:rPr>
              <a:t>требует аккуратного монтажа</a:t>
            </a:r>
          </a:p>
        </p:txBody>
      </p:sp>
    </p:spTree>
    <p:extLst>
      <p:ext uri="{BB962C8B-B14F-4D97-AF65-F5344CB8AC3E}">
        <p14:creationId xmlns:p14="http://schemas.microsoft.com/office/powerpoint/2010/main" val="2683235025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6A0E7C-23E7-2E8F-1E57-5E798BAB31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3E5E00-5CA5-C268-CE13-FECF5EB8121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BE45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05DF714-388D-5506-5E37-B5FE4F9C40D9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FFBE4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86AFEF-4858-BDB0-701F-8E928B196198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EC5C1A-B31C-5ABE-8EF4-BBDB9F00345D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489D733-DA59-76EB-98C7-91F867C238A9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89B435A-8FC3-3D8C-DA16-F3321AA9AEF4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54CB7A9-173C-C757-996F-912AC36C4435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3DA2FFF-D258-57BA-E6D1-6CE1B88BA296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454A990-B304-0B8E-3DD7-7D07AF055F10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F20A02C-75A1-B725-DE8C-D6AF811DB47A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BED8B2-D7D1-B8B3-3529-6E50E3087BD6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Где это применяется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39B5-C1DD-8A34-CA3D-A81E6518FFF5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давно стала частью связи, промышленности и бытовой техники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8E699-FFF5-20B8-BE65-DDA8225F0179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DA90F8B-47FF-F92F-42ED-50BF651BD87D}"/>
              </a:ext>
            </a:extLst>
          </p:cNvPr>
          <p:cNvSpPr/>
          <p:nvPr/>
        </p:nvSpPr>
        <p:spPr>
          <a:xfrm>
            <a:off x="939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C0F8366-83AB-5600-8411-90B74FBD7AFF}"/>
              </a:ext>
            </a:extLst>
          </p:cNvPr>
          <p:cNvSpPr/>
          <p:nvPr/>
        </p:nvSpPr>
        <p:spPr>
          <a:xfrm>
            <a:off x="1117600" y="1943100"/>
            <a:ext cx="76200" cy="939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EC7AD-5512-C46C-E4B4-40575618CE2C}"/>
              </a:ext>
            </a:extLst>
          </p:cNvPr>
          <p:cNvSpPr txBox="1"/>
          <p:nvPr/>
        </p:nvSpPr>
        <p:spPr>
          <a:xfrm>
            <a:off x="1320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Связь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B81E0-C0AC-A75D-32E6-EC09F1DAA3CF}"/>
              </a:ext>
            </a:extLst>
          </p:cNvPr>
          <p:cNvSpPr txBox="1"/>
          <p:nvPr/>
        </p:nvSpPr>
        <p:spPr>
          <a:xfrm>
            <a:off x="1320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Оптические модули работают в магистральных линиях, дата-центрах, пассивных оптических сетях и серверном оборудовании.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D68DEEE-DD56-E437-3F0E-7B3438A24AC6}"/>
              </a:ext>
            </a:extLst>
          </p:cNvPr>
          <p:cNvSpPr/>
          <p:nvPr/>
        </p:nvSpPr>
        <p:spPr>
          <a:xfrm>
            <a:off x="4495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489455A-8C92-77FA-85FD-AFAA12550F6F}"/>
              </a:ext>
            </a:extLst>
          </p:cNvPr>
          <p:cNvSpPr/>
          <p:nvPr/>
        </p:nvSpPr>
        <p:spPr>
          <a:xfrm>
            <a:off x="4673600" y="1943100"/>
            <a:ext cx="76200" cy="9398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C8917-7A31-5721-C66C-41EA4F8E4F7E}"/>
              </a:ext>
            </a:extLst>
          </p:cNvPr>
          <p:cNvSpPr txBox="1"/>
          <p:nvPr/>
        </p:nvSpPr>
        <p:spPr>
          <a:xfrm>
            <a:off x="4876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Промышленность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8313F-D8FF-905F-273C-54FE6F5C3A5D}"/>
              </a:ext>
            </a:extLst>
          </p:cNvPr>
          <p:cNvSpPr txBox="1"/>
          <p:nvPr/>
        </p:nvSpPr>
        <p:spPr>
          <a:xfrm>
            <a:off x="4876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Оптические датчики, энкодеры и барьеры безопасности помогают фиксировать положение, скорость и наличие объекта без контакта.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E339A85-5047-B468-AC9F-159898575364}"/>
              </a:ext>
            </a:extLst>
          </p:cNvPr>
          <p:cNvSpPr/>
          <p:nvPr/>
        </p:nvSpPr>
        <p:spPr>
          <a:xfrm>
            <a:off x="8051800" y="17526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5B6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4B8062E-909B-AD07-2619-E48FBACDFE21}"/>
              </a:ext>
            </a:extLst>
          </p:cNvPr>
          <p:cNvSpPr/>
          <p:nvPr/>
        </p:nvSpPr>
        <p:spPr>
          <a:xfrm>
            <a:off x="8229600" y="1943100"/>
            <a:ext cx="76200" cy="939800"/>
          </a:xfrm>
          <a:prstGeom prst="roundRect">
            <a:avLst/>
          </a:prstGeom>
          <a:solidFill>
            <a:srgbClr val="FF5B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C2E9C-91E6-13F3-73C6-439091C14827}"/>
              </a:ext>
            </a:extLst>
          </p:cNvPr>
          <p:cNvSpPr txBox="1"/>
          <p:nvPr/>
        </p:nvSpPr>
        <p:spPr>
          <a:xfrm>
            <a:off x="8432800" y="19304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Медицина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70EC8A-6208-8D32-EF7B-E5CCFD9BBC43}"/>
              </a:ext>
            </a:extLst>
          </p:cNvPr>
          <p:cNvSpPr txBox="1"/>
          <p:nvPr/>
        </p:nvSpPr>
        <p:spPr>
          <a:xfrm>
            <a:off x="8432800" y="23241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Свет применяют в пульсоксиметрах, эндоскопии, лазерной терапии и датчиках анализа, где важна точность и малая инвазивность.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BB3FC980-A8F7-B11A-8470-325A4672058B}"/>
              </a:ext>
            </a:extLst>
          </p:cNvPr>
          <p:cNvSpPr/>
          <p:nvPr/>
        </p:nvSpPr>
        <p:spPr>
          <a:xfrm>
            <a:off x="939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6EA0220B-D6F0-9603-19B8-7AD638AA447C}"/>
              </a:ext>
            </a:extLst>
          </p:cNvPr>
          <p:cNvSpPr/>
          <p:nvPr/>
        </p:nvSpPr>
        <p:spPr>
          <a:xfrm>
            <a:off x="1117600" y="3822700"/>
            <a:ext cx="76200" cy="9398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876E40-D682-F8E4-5DAE-D7A1BD5288A0}"/>
              </a:ext>
            </a:extLst>
          </p:cNvPr>
          <p:cNvSpPr txBox="1"/>
          <p:nvPr/>
        </p:nvSpPr>
        <p:spPr>
          <a:xfrm>
            <a:off x="1320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Бытовая электроника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7D1E88-0071-6732-8E2D-948E5D77969B}"/>
              </a:ext>
            </a:extLst>
          </p:cNvPr>
          <p:cNvSpPr txBox="1"/>
          <p:nvPr/>
        </p:nvSpPr>
        <p:spPr>
          <a:xfrm>
            <a:off x="1320800" y="4203700"/>
            <a:ext cx="2641600" cy="489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В быту это пульты ДУ, индикаторы, подсветка, камеры, сканеры штрихкодов и оптические датчики приближения.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E9977DC-750E-59D5-BD26-E44CB814A9AF}"/>
              </a:ext>
            </a:extLst>
          </p:cNvPr>
          <p:cNvSpPr/>
          <p:nvPr/>
        </p:nvSpPr>
        <p:spPr>
          <a:xfrm>
            <a:off x="4495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8A5C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11F54F7-19F3-2DDF-7741-DF5E6F6B82F2}"/>
              </a:ext>
            </a:extLst>
          </p:cNvPr>
          <p:cNvSpPr/>
          <p:nvPr/>
        </p:nvSpPr>
        <p:spPr>
          <a:xfrm>
            <a:off x="4673600" y="3822700"/>
            <a:ext cx="76200" cy="939800"/>
          </a:xfrm>
          <a:prstGeom prst="roundRect">
            <a:avLst/>
          </a:prstGeom>
          <a:solidFill>
            <a:srgbClr val="8A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DBBE60-3D13-1579-4C79-045421FE4A35}"/>
              </a:ext>
            </a:extLst>
          </p:cNvPr>
          <p:cNvSpPr txBox="1"/>
          <p:nvPr/>
        </p:nvSpPr>
        <p:spPr>
          <a:xfrm>
            <a:off x="4876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Транспорт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17A70-2F8E-3855-7AE6-D2CF9E65E304}"/>
              </a:ext>
            </a:extLst>
          </p:cNvPr>
          <p:cNvSpPr txBox="1"/>
          <p:nvPr/>
        </p:nvSpPr>
        <p:spPr>
          <a:xfrm>
            <a:off x="4876800" y="4203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LiDAR, световые системы и оптическая диагностика помогают измерять расстояния, распознавать объекты и контролировать узлы.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797DBE6-E712-60D4-8AC4-E2E5C06F94B4}"/>
              </a:ext>
            </a:extLst>
          </p:cNvPr>
          <p:cNvSpPr/>
          <p:nvPr/>
        </p:nvSpPr>
        <p:spPr>
          <a:xfrm>
            <a:off x="8051800" y="3632200"/>
            <a:ext cx="3175000" cy="13208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F49B365-0FBF-112A-5C6A-472486BCC40C}"/>
              </a:ext>
            </a:extLst>
          </p:cNvPr>
          <p:cNvSpPr/>
          <p:nvPr/>
        </p:nvSpPr>
        <p:spPr>
          <a:xfrm>
            <a:off x="8229600" y="3822700"/>
            <a:ext cx="76200" cy="9398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FD4EC5-8A23-31B6-D941-7F6B28EC652D}"/>
              </a:ext>
            </a:extLst>
          </p:cNvPr>
          <p:cNvSpPr txBox="1"/>
          <p:nvPr/>
        </p:nvSpPr>
        <p:spPr>
          <a:xfrm>
            <a:off x="8432800" y="38100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Энергетика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EC50D9-7038-BF75-B793-8F5833F1DDC9}"/>
              </a:ext>
            </a:extLst>
          </p:cNvPr>
          <p:cNvSpPr txBox="1"/>
          <p:nvPr/>
        </p:nvSpPr>
        <p:spPr>
          <a:xfrm>
            <a:off x="8432800" y="42037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Оптроны и оптоволокно удобны в высоковольтных системах, потому что позволяют передавать сигнал с электрической изоляцией.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FD0DD5-37CB-6EE4-6FA3-54A90E4F11AB}"/>
              </a:ext>
            </a:extLst>
          </p:cNvPr>
          <p:cNvSpPr txBox="1"/>
          <p:nvPr/>
        </p:nvSpPr>
        <p:spPr>
          <a:xfrm>
            <a:off x="1397000" y="5562600"/>
            <a:ext cx="927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F3F7FF"/>
                </a:solidFill>
                <a:latin typeface="Aptos" panose="020B0004020202020204" pitchFamily="34" charset="0"/>
              </a:rPr>
              <a:t>Общий мотив: свет помогает передать сигнал быстро, чисто и безопасно там, где обычная электрическая связь неудобна.</a:t>
            </a:r>
          </a:p>
        </p:txBody>
      </p:sp>
    </p:spTree>
    <p:extLst>
      <p:ext uri="{BB962C8B-B14F-4D97-AF65-F5344CB8AC3E}">
        <p14:creationId xmlns:p14="http://schemas.microsoft.com/office/powerpoint/2010/main" val="13875465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AA71965-7132-EF12-B8EC-1090639503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3E2C3F-6594-D726-EFFC-1F194ED26D3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4BDC92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16EBF5-0D41-F32C-7A89-AFA98E19060B}"/>
              </a:ext>
            </a:extLst>
          </p:cNvPr>
          <p:cNvSpPr/>
          <p:nvPr/>
        </p:nvSpPr>
        <p:spPr>
          <a:xfrm>
            <a:off x="685800" y="1549400"/>
            <a:ext cx="10820400" cy="17780"/>
          </a:xfrm>
          <a:prstGeom prst="rect">
            <a:avLst/>
          </a:prstGeom>
          <a:solidFill>
            <a:srgbClr val="4BDC92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7A80E94-2EB4-FDF4-52E8-82457D6EC559}"/>
              </a:ext>
            </a:extLst>
          </p:cNvPr>
          <p:cNvSpPr/>
          <p:nvPr/>
        </p:nvSpPr>
        <p:spPr>
          <a:xfrm>
            <a:off x="685800" y="482600"/>
            <a:ext cx="431800" cy="50800"/>
          </a:xfrm>
          <a:prstGeom prst="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9531C7B-747E-F11C-56C1-02B010BDC9CD}"/>
              </a:ext>
            </a:extLst>
          </p:cNvPr>
          <p:cNvCxnSpPr/>
          <p:nvPr/>
        </p:nvCxnSpPr>
        <p:spPr>
          <a:xfrm flipH="1">
            <a:off x="-508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5FF61D9-9B88-C26D-13E2-8C712F5FE6E5}"/>
              </a:ext>
            </a:extLst>
          </p:cNvPr>
          <p:cNvCxnSpPr/>
          <p:nvPr/>
        </p:nvCxnSpPr>
        <p:spPr>
          <a:xfrm flipH="1">
            <a:off x="1168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5EE8AA1-3B62-150D-DC04-DA66FBE1C8A7}"/>
              </a:ext>
            </a:extLst>
          </p:cNvPr>
          <p:cNvCxnSpPr/>
          <p:nvPr/>
        </p:nvCxnSpPr>
        <p:spPr>
          <a:xfrm flipH="1">
            <a:off x="28448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94796E-EE93-6DAA-0817-5FF60BF30AAF}"/>
              </a:ext>
            </a:extLst>
          </p:cNvPr>
          <p:cNvCxnSpPr/>
          <p:nvPr/>
        </p:nvCxnSpPr>
        <p:spPr>
          <a:xfrm flipH="1">
            <a:off x="45212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914FB24-63FB-7304-8209-24C6BF556BC9}"/>
              </a:ext>
            </a:extLst>
          </p:cNvPr>
          <p:cNvCxnSpPr/>
          <p:nvPr/>
        </p:nvCxnSpPr>
        <p:spPr>
          <a:xfrm flipH="1">
            <a:off x="61976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750FCB9-30E3-D718-3996-EE2EEE512712}"/>
              </a:ext>
            </a:extLst>
          </p:cNvPr>
          <p:cNvCxnSpPr/>
          <p:nvPr/>
        </p:nvCxnSpPr>
        <p:spPr>
          <a:xfrm flipH="1">
            <a:off x="78740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B932179-B6D8-E2C3-E7DC-04186801A18F}"/>
              </a:ext>
            </a:extLst>
          </p:cNvPr>
          <p:cNvCxnSpPr/>
          <p:nvPr/>
        </p:nvCxnSpPr>
        <p:spPr>
          <a:xfrm flipH="1">
            <a:off x="9550400" y="1676400"/>
            <a:ext cx="1651000" cy="4927600"/>
          </a:xfrm>
          <a:prstGeom prst="line">
            <a:avLst/>
          </a:prstGeom>
          <a:ln w="6985" cap="flat" cmpd="sng" algn="ctr">
            <a:solidFill>
              <a:srgbClr val="4E5B7B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0A96DF-55E5-77F8-856E-9093C9B580FB}"/>
              </a:ext>
            </a:extLst>
          </p:cNvPr>
          <p:cNvSpPr txBox="1"/>
          <p:nvPr/>
        </p:nvSpPr>
        <p:spPr>
          <a:xfrm>
            <a:off x="685800" y="609600"/>
            <a:ext cx="965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F3F7FF"/>
                </a:solidFill>
                <a:latin typeface="Aptos" panose="020B0004020202020204" pitchFamily="34" charset="0"/>
              </a:rPr>
              <a:t>Итоги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82116-963F-EA1B-F866-353F5136A52F}"/>
              </a:ext>
            </a:extLst>
          </p:cNvPr>
          <p:cNvSpPr txBox="1"/>
          <p:nvPr/>
        </p:nvSpPr>
        <p:spPr>
          <a:xfrm>
            <a:off x="711200" y="1219200"/>
            <a:ext cx="10160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A9B5CC"/>
                </a:solidFill>
                <a:latin typeface="Aptos" panose="020B0004020202020204" pitchFamily="34" charset="0"/>
              </a:rPr>
              <a:t>Оптоэлектронные устройства связывают электрический мир со световым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22AAC-2404-66E8-50BC-8B389B936F11}"/>
              </a:ext>
            </a:extLst>
          </p:cNvPr>
          <p:cNvSpPr txBox="1"/>
          <p:nvPr/>
        </p:nvSpPr>
        <p:spPr>
          <a:xfrm>
            <a:off x="10223500" y="64262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00">
                <a:solidFill>
                  <a:srgbClr val="A9B5CC"/>
                </a:solidFill>
                <a:latin typeface="Aptos" panose="020B0004020202020204" pitchFamily="34" charset="0"/>
              </a:rPr>
              <a:t>Оптоэлектроника • 12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4362D52-3EF7-F2B2-43D5-F51744FB0CC9}"/>
              </a:ext>
            </a:extLst>
          </p:cNvPr>
          <p:cNvSpPr/>
          <p:nvPr/>
        </p:nvSpPr>
        <p:spPr>
          <a:xfrm>
            <a:off x="9906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1FDCE8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CCFAC90-C348-C965-2787-C515B22B7EAA}"/>
              </a:ext>
            </a:extLst>
          </p:cNvPr>
          <p:cNvSpPr/>
          <p:nvPr/>
        </p:nvSpPr>
        <p:spPr>
          <a:xfrm>
            <a:off x="1168400" y="1993900"/>
            <a:ext cx="76200" cy="1244600"/>
          </a:xfrm>
          <a:prstGeom prst="roundRect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52E24-D142-42EE-39D4-BA030E16BAC4}"/>
              </a:ext>
            </a:extLst>
          </p:cNvPr>
          <p:cNvSpPr txBox="1"/>
          <p:nvPr/>
        </p:nvSpPr>
        <p:spPr>
          <a:xfrm>
            <a:off x="13716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3F7FF"/>
                </a:solidFill>
                <a:latin typeface="Aptos" panose="020B0004020202020204" pitchFamily="34" charset="0"/>
              </a:rPr>
              <a:t>1. LED </a:t>
            </a:r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и лазеры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9C9E0-9FA9-8E10-1815-FFE40D77C9CB}"/>
              </a:ext>
            </a:extLst>
          </p:cNvPr>
          <p:cNvSpPr txBox="1"/>
          <p:nvPr/>
        </p:nvSpPr>
        <p:spPr>
          <a:xfrm>
            <a:off x="13716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Эти элементы создают излучение. LED проще и дешевле, а лазерный диод лучше подходит для точного луча и дальних линий.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C7EF25C-AE86-B874-0A67-C44EB3EC69C7}"/>
              </a:ext>
            </a:extLst>
          </p:cNvPr>
          <p:cNvSpPr/>
          <p:nvPr/>
        </p:nvSpPr>
        <p:spPr>
          <a:xfrm>
            <a:off x="44958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4BDC9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FDE1335-8B54-CBD1-773E-3E916BA778ED}"/>
              </a:ext>
            </a:extLst>
          </p:cNvPr>
          <p:cNvSpPr/>
          <p:nvPr/>
        </p:nvSpPr>
        <p:spPr>
          <a:xfrm>
            <a:off x="4673600" y="1993900"/>
            <a:ext cx="76200" cy="1244600"/>
          </a:xfrm>
          <a:prstGeom prst="roundRect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0B73C1-D076-1DAD-D8A1-810DBCDBEEA0}"/>
              </a:ext>
            </a:extLst>
          </p:cNvPr>
          <p:cNvSpPr txBox="1"/>
          <p:nvPr/>
        </p:nvSpPr>
        <p:spPr>
          <a:xfrm>
            <a:off x="48768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2. Фотоприемники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3EB408-70B7-4E4D-0588-54F7B2603AD0}"/>
              </a:ext>
            </a:extLst>
          </p:cNvPr>
          <p:cNvSpPr txBox="1"/>
          <p:nvPr/>
        </p:nvSpPr>
        <p:spPr>
          <a:xfrm>
            <a:off x="48768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Фотоприемники возвращают световой поток в электрическую форму. От их чувствительности, шума и скорости зависит качество приема.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38C8B79-1593-F03D-6C5B-149D9A848D4C}"/>
              </a:ext>
            </a:extLst>
          </p:cNvPr>
          <p:cNvSpPr/>
          <p:nvPr/>
        </p:nvSpPr>
        <p:spPr>
          <a:xfrm>
            <a:off x="8001000" y="1803400"/>
            <a:ext cx="3175000" cy="1625600"/>
          </a:xfrm>
          <a:prstGeom prst="roundRect">
            <a:avLst/>
          </a:prstGeom>
          <a:solidFill>
            <a:srgbClr val="161C2A">
              <a:alpha val="94000"/>
            </a:srgbClr>
          </a:solidFill>
          <a:ln w="15240" cap="flat" cmpd="sng" algn="ctr">
            <a:solidFill>
              <a:srgbClr val="FFBE4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7953B5F-223E-77D6-3B65-0247BD086781}"/>
              </a:ext>
            </a:extLst>
          </p:cNvPr>
          <p:cNvSpPr/>
          <p:nvPr/>
        </p:nvSpPr>
        <p:spPr>
          <a:xfrm>
            <a:off x="8178800" y="1993900"/>
            <a:ext cx="76200" cy="1244600"/>
          </a:xfrm>
          <a:prstGeom prst="roundRect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1EFCB-DB23-DA70-154E-F1F21E185838}"/>
              </a:ext>
            </a:extLst>
          </p:cNvPr>
          <p:cNvSpPr txBox="1"/>
          <p:nvPr/>
        </p:nvSpPr>
        <p:spPr>
          <a:xfrm>
            <a:off x="8382000" y="1981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F3F7FF"/>
                </a:solidFill>
                <a:latin typeface="Aptos" panose="020B0004020202020204" pitchFamily="34" charset="0"/>
              </a:rPr>
              <a:t>3. Оптроны и волокно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81E9D-E3AD-8C0A-99D9-47C1BFE0F770}"/>
              </a:ext>
            </a:extLst>
          </p:cNvPr>
          <p:cNvSpPr txBox="1"/>
          <p:nvPr/>
        </p:nvSpPr>
        <p:spPr>
          <a:xfrm>
            <a:off x="8382000" y="2374900"/>
            <a:ext cx="2641600" cy="6524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60">
                <a:solidFill>
                  <a:srgbClr val="A9B5CC"/>
                </a:solidFill>
                <a:latin typeface="Aptos" panose="020B0004020202020204" pitchFamily="34" charset="0"/>
              </a:rPr>
              <a:t>Оптроны дают безопасную развязку цепей, а оптоволокно переносит данные на большие расстояния с малыми потерями.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1F0A1C-DA75-361A-4951-AD198CA6B21B}"/>
              </a:ext>
            </a:extLst>
          </p:cNvPr>
          <p:cNvSpPr txBox="1"/>
          <p:nvPr/>
        </p:nvSpPr>
        <p:spPr>
          <a:xfrm>
            <a:off x="1676400" y="4241800"/>
            <a:ext cx="889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2100" b="1">
                <a:solidFill>
                  <a:srgbClr val="F3F7FF"/>
                </a:solidFill>
                <a:latin typeface="Aptos" panose="020B0004020202020204" pitchFamily="34" charset="0"/>
              </a:rPr>
              <a:t>Ключевая мысль для доклада: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08231A-C073-FB8C-8CB3-6E270B622A3E}"/>
              </a:ext>
            </a:extLst>
          </p:cNvPr>
          <p:cNvSpPr txBox="1"/>
          <p:nvPr/>
        </p:nvSpPr>
        <p:spPr>
          <a:xfrm>
            <a:off x="1930400" y="4724400"/>
            <a:ext cx="8255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2200" b="1">
                <a:solidFill>
                  <a:srgbClr val="1FDCE8"/>
                </a:solidFill>
                <a:latin typeface="Aptos" panose="020B0004020202020204" pitchFamily="34" charset="0"/>
              </a:rPr>
              <a:t>оптоэлектроника ценна не только тем, что «светится», а тем, что позволяет быстрее, безопаснее и устойчивее передавать информацию.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709BBF08-2AAA-A363-4872-30FADBA4CBC7}"/>
              </a:ext>
            </a:extLst>
          </p:cNvPr>
          <p:cNvSpPr/>
          <p:nvPr/>
        </p:nvSpPr>
        <p:spPr>
          <a:xfrm>
            <a:off x="25146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A87A7EF-3B14-BE15-C8D3-096984CD2A0E}"/>
              </a:ext>
            </a:extLst>
          </p:cNvPr>
          <p:cNvSpPr/>
          <p:nvPr/>
        </p:nvSpPr>
        <p:spPr>
          <a:xfrm>
            <a:off x="29972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746571F-8D0A-0A62-AB15-5B091729E9FC}"/>
              </a:ext>
            </a:extLst>
          </p:cNvPr>
          <p:cNvSpPr/>
          <p:nvPr/>
        </p:nvSpPr>
        <p:spPr>
          <a:xfrm>
            <a:off x="34798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B700870-D8B1-B7F9-54F3-789FF0419A21}"/>
              </a:ext>
            </a:extLst>
          </p:cNvPr>
          <p:cNvSpPr/>
          <p:nvPr/>
        </p:nvSpPr>
        <p:spPr>
          <a:xfrm>
            <a:off x="3962400" y="6096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DC690721-283E-22CF-DDF0-FA4E012121D2}"/>
              </a:ext>
            </a:extLst>
          </p:cNvPr>
          <p:cNvSpPr/>
          <p:nvPr/>
        </p:nvSpPr>
        <p:spPr>
          <a:xfrm>
            <a:off x="4445000" y="5969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66916C1C-5ACF-6CC0-4CFD-6686A799BB48}"/>
              </a:ext>
            </a:extLst>
          </p:cNvPr>
          <p:cNvSpPr/>
          <p:nvPr/>
        </p:nvSpPr>
        <p:spPr>
          <a:xfrm>
            <a:off x="4927600" y="6096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45A103E3-7360-8937-CA33-1025EE3E1B0F}"/>
              </a:ext>
            </a:extLst>
          </p:cNvPr>
          <p:cNvSpPr/>
          <p:nvPr/>
        </p:nvSpPr>
        <p:spPr>
          <a:xfrm>
            <a:off x="54102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D898FB35-D952-BF31-A222-210A2068E701}"/>
              </a:ext>
            </a:extLst>
          </p:cNvPr>
          <p:cNvSpPr/>
          <p:nvPr/>
        </p:nvSpPr>
        <p:spPr>
          <a:xfrm>
            <a:off x="58928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E53AB9CA-FD91-9D9E-8625-2E805553EBC1}"/>
              </a:ext>
            </a:extLst>
          </p:cNvPr>
          <p:cNvSpPr/>
          <p:nvPr/>
        </p:nvSpPr>
        <p:spPr>
          <a:xfrm>
            <a:off x="63754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42B0C0DF-7CC6-22D7-B034-A7C9FD0C73E5}"/>
              </a:ext>
            </a:extLst>
          </p:cNvPr>
          <p:cNvSpPr/>
          <p:nvPr/>
        </p:nvSpPr>
        <p:spPr>
          <a:xfrm>
            <a:off x="6858000" y="6096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DC40CDB3-F1D3-59FF-849C-ABBD10880C19}"/>
              </a:ext>
            </a:extLst>
          </p:cNvPr>
          <p:cNvSpPr/>
          <p:nvPr/>
        </p:nvSpPr>
        <p:spPr>
          <a:xfrm>
            <a:off x="7340600" y="5969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1FB24500-6A0B-9E42-984E-5AFEF9011F13}"/>
              </a:ext>
            </a:extLst>
          </p:cNvPr>
          <p:cNvSpPr/>
          <p:nvPr/>
        </p:nvSpPr>
        <p:spPr>
          <a:xfrm>
            <a:off x="7823200" y="6096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F5FF496C-597E-96B2-5BE4-F1C37E187F8D}"/>
              </a:ext>
            </a:extLst>
          </p:cNvPr>
          <p:cNvSpPr/>
          <p:nvPr/>
        </p:nvSpPr>
        <p:spPr>
          <a:xfrm>
            <a:off x="8305800" y="5969000"/>
            <a:ext cx="101600" cy="101600"/>
          </a:xfrm>
          <a:prstGeom prst="ellipse">
            <a:avLst/>
          </a:prstGeom>
          <a:solidFill>
            <a:srgbClr val="1FDCE8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1FDCE8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EEF88812-BFC5-C251-E741-3099C987D5D4}"/>
              </a:ext>
            </a:extLst>
          </p:cNvPr>
          <p:cNvSpPr/>
          <p:nvPr/>
        </p:nvSpPr>
        <p:spPr>
          <a:xfrm>
            <a:off x="8788400" y="6096000"/>
            <a:ext cx="101600" cy="101600"/>
          </a:xfrm>
          <a:prstGeom prst="ellipse">
            <a:avLst/>
          </a:prstGeom>
          <a:solidFill>
            <a:srgbClr val="4BDC92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4BDC92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7DACF6E6-FA6A-EC61-D8F7-E6939EDF5332}"/>
              </a:ext>
            </a:extLst>
          </p:cNvPr>
          <p:cNvSpPr/>
          <p:nvPr/>
        </p:nvSpPr>
        <p:spPr>
          <a:xfrm>
            <a:off x="9271000" y="5969000"/>
            <a:ext cx="101600" cy="101600"/>
          </a:xfrm>
          <a:prstGeom prst="ellipse">
            <a:avLst/>
          </a:prstGeom>
          <a:solidFill>
            <a:srgbClr val="FFBE45"/>
          </a:solidFill>
          <a:ln w="12700" cap="flat" cmpd="sng" algn="ctr">
            <a:noFill/>
            <a:prstDash val="solid"/>
            <a:miter lim="800000"/>
          </a:ln>
          <a:effectLst>
            <a:glow rad="114300">
              <a:srgbClr val="FFBE45"/>
            </a:glo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26553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1983</Words>
  <Application>Microsoft Office PowerPoint</Application>
  <PresentationFormat>Широкоэкранный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Admin2.0</dc:creator>
  <cp:lastModifiedBy>Admin2.0</cp:lastModifiedBy>
  <cp:revision>1</cp:revision>
  <dcterms:created xsi:type="dcterms:W3CDTF">2026-04-24T18:24:25Z</dcterms:created>
  <dcterms:modified xsi:type="dcterms:W3CDTF">2026-04-24T18:29:33Z</dcterms:modified>
</cp:coreProperties>
</file>